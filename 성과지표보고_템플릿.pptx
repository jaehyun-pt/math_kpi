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?>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13716000" cx="2438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6" roundtripDataSignature="AMtx7mg2kzCAGUsuD+NxntUdlaBJVf2L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73B2DFF-F49C-45CD-A2D8-0BA848A6A658}">
  <a:tblStyle styleId="{C73B2DFF-F49C-45CD-A2D8-0BA848A6A65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?>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customschemas.google.com/relationships/presentationmetadata" Target="metadata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b7a0e11e6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g3bb7a0e11e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f8310c149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g3bf8310c14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b7a0e11e6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bb7a0e11e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b7a0e11e6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3bb7a0e11e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b7a0e11e6_0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g3bb7a0e11e6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b7a0e11e6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3bb7a0e11e6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b7a0e11e6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3bb7a0e11e6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b7a0e11e6_0_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bb7a0e11e6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b7a0e11e6_0_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g3bb7a0e11e6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b7a0e11e6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g3bb7a0e11e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b7a0e11e6_0_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bb7a0e11e6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bb7a0e11e6_0_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3bb7a0e11e6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b7a0e11e6_0_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3bb7a0e11e6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bb7a0e11e6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g3bb7a0e11e6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b7a0e11e6_0_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3bb7a0e11e6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bb7a0e11e6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3bb7a0e11e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bb7a0e11e6_0_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bb7a0e11e6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bb7a0e11e6_0_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3bb7a0e11e6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bb7a0e11e6_0_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g3bb7a0e11e6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g3bb7a0e11e6_0_1"/>
          <p:cNvGraphicFramePr/>
          <p:nvPr/>
        </p:nvGraphicFramePr>
        <p:xfrm>
          <a:off x="3584900" y="5372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{C73B2DFF-F49C-45CD-A2D8-0BA848A6A658}</a:tableStyleId>
              </a:tblPr>
              <a:tblGrid>
                <a:gridCol w="1919700"/>
                <a:gridCol w="1919700"/>
                <a:gridCol w="1919700"/>
              </a:tblGrid>
              <a:tr h="1000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C2C2"/>
                    </a:solidFill>
                    <a:extLst>
                      <a:ext uri="http://customooxmlschemas.google.com/">
                        <go:slidesCustomData xmlns:go="http://customooxmlschemas.google.com/" cellId="84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b="1" lang="en-US" sz="2700" u="none" cap="none" strike="noStrike">
                          <a:solidFill>
                            <a:srgbClr val="787878"/>
                          </a:solidFill>
                        </a:rPr>
                        <a:t>2025년</a:t>
                      </a:r>
                      <a:endParaRPr b="1" sz="2700" u="none" cap="none" strike="noStrike">
                        <a:solidFill>
                          <a:srgbClr val="787878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CDCD"/>
                    </a:solidFill>
                    <a:extLst>
                      <a:ext uri="http://customooxmlschemas.google.com/">
                        <go:slidesCustomData xmlns:go="http://customooxmlschemas.google.com/" cellId="84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rgbClr val="FCFCFC"/>
                          </a:solidFill>
                        </a:rPr>
                        <a:t>2026년</a:t>
                      </a:r>
                      <a:endParaRPr b="1" sz="2800" u="none" cap="none" strike="noStrike">
                        <a:solidFill>
                          <a:srgbClr val="FCFCFC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84:0:2"/>
                      </a:ext>
                    </a:extLst>
                  </a:tcPr>
                </a:tc>
              </a:tr>
              <a:tr h="1074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b="1" lang="en-US" sz="2700" u="none" cap="none" strike="noStrike">
                          <a:solidFill>
                            <a:srgbClr val="787878"/>
                          </a:solidFill>
                        </a:rPr>
                        <a:t>종료예정</a:t>
                      </a:r>
                      <a:endParaRPr b="1" sz="2700" u="none" cap="none" strike="noStrike">
                        <a:solidFill>
                          <a:srgbClr val="787878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84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>
                          <a:solidFill>
                            <a:schemeClr val="dk1"/>
                          </a:solidFill>
                        </a:rPr>
                        <a:t>763</a:t>
                      </a:r>
                      <a:endParaRPr sz="2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84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>
                          <a:solidFill>
                            <a:schemeClr val="dk1"/>
                          </a:solidFill>
                        </a:rPr>
                        <a:t>311</a:t>
                      </a:r>
                      <a:endParaRPr sz="2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84:1:2"/>
                      </a:ext>
                    </a:extLst>
                  </a:tcPr>
                </a:tc>
              </a:tr>
              <a:tr h="1074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b="1" lang="en-US" sz="2700" u="none" cap="none" strike="noStrike">
                          <a:solidFill>
                            <a:srgbClr val="787878"/>
                          </a:solidFill>
                        </a:rPr>
                        <a:t>연장완료</a:t>
                      </a:r>
                      <a:endParaRPr b="1" sz="2700" u="none" cap="none" strike="noStrike">
                        <a:solidFill>
                          <a:srgbClr val="787878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84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>
                          <a:solidFill>
                            <a:schemeClr val="dk1"/>
                          </a:solidFill>
                        </a:rPr>
                        <a:t>581</a:t>
                      </a:r>
                      <a:endParaRPr sz="2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84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>
                          <a:solidFill>
                            <a:schemeClr val="dk1"/>
                          </a:solidFill>
                        </a:rPr>
                        <a:t>183</a:t>
                      </a:r>
                      <a:endParaRPr sz="2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84:2:2"/>
                      </a:ext>
                    </a:extLst>
                  </a:tcPr>
                </a:tc>
              </a:tr>
              <a:tr h="1074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b="1" lang="en-US" sz="2700" u="none" cap="none" strike="noStrike">
                          <a:solidFill>
                            <a:srgbClr val="787878"/>
                          </a:solidFill>
                        </a:rPr>
                        <a:t>미연장</a:t>
                      </a:r>
                      <a:endParaRPr b="1" sz="2700" u="none" cap="none" strike="noStrike">
                        <a:solidFill>
                          <a:srgbClr val="787878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84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>
                          <a:solidFill>
                            <a:schemeClr val="dk1"/>
                          </a:solidFill>
                        </a:rPr>
                        <a:t>99</a:t>
                      </a:r>
                      <a:endParaRPr sz="2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84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>
                          <a:solidFill>
                            <a:schemeClr val="dk1"/>
                          </a:solidFill>
                        </a:rPr>
                        <a:t>56</a:t>
                      </a:r>
                      <a:endParaRPr sz="2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84:3:2"/>
                      </a:ext>
                    </a:extLst>
                  </a:tcPr>
                </a:tc>
              </a:tr>
              <a:tr h="1074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b="1" lang="en-US" sz="2700" u="none" cap="none" strike="noStrike">
                          <a:solidFill>
                            <a:srgbClr val="787878"/>
                          </a:solidFill>
                        </a:rPr>
                        <a:t>환불</a:t>
                      </a:r>
                      <a:endParaRPr b="1" sz="2700" u="none" cap="none" strike="noStrike">
                        <a:solidFill>
                          <a:srgbClr val="787878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84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>
                          <a:solidFill>
                            <a:schemeClr val="dk1"/>
                          </a:solidFill>
                        </a:rPr>
                        <a:t>83</a:t>
                      </a:r>
                      <a:endParaRPr sz="2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84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>
                          <a:solidFill>
                            <a:schemeClr val="dk1"/>
                          </a:solidFill>
                        </a:rPr>
                        <a:t>72</a:t>
                      </a:r>
                      <a:endParaRPr sz="2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84:4:2"/>
                      </a:ext>
                    </a:extLst>
                  </a:tcPr>
                </a:tc>
              </a:tr>
              <a:tr h="1074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b="1" lang="en-US" sz="2700" u="none" cap="none" strike="noStrike">
                          <a:solidFill>
                            <a:srgbClr val="787878"/>
                          </a:solidFill>
                        </a:rPr>
                        <a:t>재수강률</a:t>
                      </a:r>
                      <a:endParaRPr b="1" sz="2700" u="none" cap="none" strike="noStrike">
                        <a:solidFill>
                          <a:srgbClr val="787878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84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>
                          <a:solidFill>
                            <a:schemeClr val="dk1"/>
                          </a:solidFill>
                        </a:rPr>
                        <a:t>76.15%</a:t>
                      </a:r>
                      <a:endParaRPr sz="2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84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>
                          <a:solidFill>
                            <a:schemeClr val="dk1"/>
                          </a:solidFill>
                        </a:rPr>
                        <a:t>58.84%</a:t>
                      </a:r>
                      <a:endParaRPr sz="2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84:5:2"/>
                      </a:ext>
                    </a:extLst>
                  </a:tcPr>
                </a:tc>
              </a:tr>
              <a:tr h="1074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b="1" lang="en-US" sz="2700" u="none" cap="none" strike="noStrike">
                          <a:solidFill>
                            <a:srgbClr val="787878"/>
                          </a:solidFill>
                        </a:rPr>
                        <a:t>이탈률</a:t>
                      </a:r>
                      <a:endParaRPr b="1" sz="2700" u="none" cap="none" strike="noStrike">
                        <a:solidFill>
                          <a:srgbClr val="787878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84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>
                          <a:solidFill>
                            <a:schemeClr val="dk1"/>
                          </a:solidFill>
                        </a:rPr>
                        <a:t>4.26%</a:t>
                      </a:r>
                      <a:endParaRPr sz="2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84: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>
                          <a:solidFill>
                            <a:schemeClr val="dk1"/>
                          </a:solidFill>
                        </a:rPr>
                        <a:t>5.39%</a:t>
                      </a:r>
                      <a:endParaRPr sz="2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84:6:2"/>
                      </a:ext>
                    </a:extLst>
                  </a:tcPr>
                </a:tc>
              </a:tr>
            </a:tbl>
          </a:graphicData>
        </a:graphic>
      </p:graphicFrame>
      <p:graphicFrame>
        <p:nvGraphicFramePr>
          <p:cNvPr id="85" name="Google Shape;85;g3bb7a0e11e6_0_1"/>
          <p:cNvGraphicFramePr/>
          <p:nvPr/>
        </p:nvGraphicFramePr>
        <p:xfrm>
          <a:off x="10071625" y="5372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{C73B2DFF-F49C-45CD-A2D8-0BA848A6A658}</a:tableStyleId>
              </a:tblPr>
              <a:tblGrid>
                <a:gridCol w="1919700"/>
                <a:gridCol w="1919700"/>
                <a:gridCol w="1919700"/>
              </a:tblGrid>
              <a:tr h="1000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C2C2"/>
                    </a:solidFill>
                    <a:extLst>
                      <a:ext uri="http://customooxmlschemas.google.com/">
                        <go:slidesCustomData xmlns:go="http://customooxmlschemas.google.com/" cellId="85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b="1" lang="en-US" sz="2700" u="none" cap="none" strike="noStrike">
                          <a:solidFill>
                            <a:srgbClr val="787878"/>
                          </a:solidFill>
                        </a:rPr>
                        <a:t>2025년</a:t>
                      </a:r>
                      <a:endParaRPr b="1" sz="2700" u="none" cap="none" strike="noStrike">
                        <a:solidFill>
                          <a:srgbClr val="787878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CDCD"/>
                    </a:solidFill>
                    <a:extLst>
                      <a:ext uri="http://customooxmlschemas.google.com/">
                        <go:slidesCustomData xmlns:go="http://customooxmlschemas.google.com/" cellId="85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rgbClr val="FCFCFC"/>
                          </a:solidFill>
                        </a:rPr>
                        <a:t>2026년</a:t>
                      </a:r>
                      <a:endParaRPr b="1" sz="2800" u="none" cap="none" strike="noStrike">
                        <a:solidFill>
                          <a:srgbClr val="FCFCFC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85:0:2"/>
                      </a:ext>
                    </a:extLst>
                  </a:tcPr>
                </a:tc>
              </a:tr>
              <a:tr h="1074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b="1" lang="en-US" sz="2700" u="none" cap="none" strike="noStrike">
                          <a:solidFill>
                            <a:srgbClr val="787878"/>
                          </a:solidFill>
                        </a:rPr>
                        <a:t>종료예정</a:t>
                      </a:r>
                      <a:endParaRPr b="1" sz="2700" u="none" cap="none" strike="noStrike">
                        <a:solidFill>
                          <a:srgbClr val="787878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85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>
                          <a:solidFill>
                            <a:schemeClr val="dk1"/>
                          </a:solidFill>
                        </a:rPr>
                        <a:t>763</a:t>
                      </a:r>
                      <a:endParaRPr sz="2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85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>
                          <a:solidFill>
                            <a:schemeClr val="dk1"/>
                          </a:solidFill>
                        </a:rPr>
                        <a:t>772</a:t>
                      </a:r>
                      <a:endParaRPr sz="2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85:1:2"/>
                      </a:ext>
                    </a:extLst>
                  </a:tcPr>
                </a:tc>
              </a:tr>
              <a:tr h="1074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b="1" lang="en-US" sz="2700" u="none" cap="none" strike="noStrike">
                          <a:solidFill>
                            <a:srgbClr val="787878"/>
                          </a:solidFill>
                        </a:rPr>
                        <a:t>연장완료</a:t>
                      </a:r>
                      <a:endParaRPr b="1" sz="2700" u="none" cap="none" strike="noStrike">
                        <a:solidFill>
                          <a:srgbClr val="787878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85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>
                          <a:solidFill>
                            <a:schemeClr val="dk1"/>
                          </a:solidFill>
                        </a:rPr>
                        <a:t>581</a:t>
                      </a:r>
                      <a:endParaRPr sz="2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85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>
                          <a:solidFill>
                            <a:schemeClr val="dk1"/>
                          </a:solidFill>
                        </a:rPr>
                        <a:t>510</a:t>
                      </a:r>
                      <a:endParaRPr sz="2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85:2:2"/>
                      </a:ext>
                    </a:extLst>
                  </a:tcPr>
                </a:tc>
              </a:tr>
              <a:tr h="1074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b="1" lang="en-US" sz="2700" u="none" cap="none" strike="noStrike">
                          <a:solidFill>
                            <a:srgbClr val="787878"/>
                          </a:solidFill>
                        </a:rPr>
                        <a:t>미연장</a:t>
                      </a:r>
                      <a:endParaRPr b="1" sz="2700" u="none" cap="none" strike="noStrike">
                        <a:solidFill>
                          <a:srgbClr val="787878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85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>
                          <a:solidFill>
                            <a:schemeClr val="dk1"/>
                          </a:solidFill>
                        </a:rPr>
                        <a:t>99</a:t>
                      </a:r>
                      <a:endParaRPr sz="2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85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>
                          <a:solidFill>
                            <a:schemeClr val="dk1"/>
                          </a:solidFill>
                        </a:rPr>
                        <a:t>111</a:t>
                      </a:r>
                      <a:endParaRPr sz="2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85:3:2"/>
                      </a:ext>
                    </a:extLst>
                  </a:tcPr>
                </a:tc>
              </a:tr>
              <a:tr h="1074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b="1" lang="en-US" sz="2700" u="none" cap="none" strike="noStrike">
                          <a:solidFill>
                            <a:srgbClr val="787878"/>
                          </a:solidFill>
                        </a:rPr>
                        <a:t>환불</a:t>
                      </a:r>
                      <a:endParaRPr b="1" sz="2700" u="none" cap="none" strike="noStrike">
                        <a:solidFill>
                          <a:srgbClr val="787878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85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>
                          <a:solidFill>
                            <a:schemeClr val="dk1"/>
                          </a:solidFill>
                        </a:rPr>
                        <a:t>83</a:t>
                      </a:r>
                      <a:endParaRPr sz="2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85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>
                          <a:solidFill>
                            <a:schemeClr val="dk1"/>
                          </a:solidFill>
                        </a:rPr>
                        <a:t>151</a:t>
                      </a:r>
                      <a:endParaRPr sz="2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85:4:2"/>
                      </a:ext>
                    </a:extLst>
                  </a:tcPr>
                </a:tc>
              </a:tr>
              <a:tr h="1074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b="1" lang="en-US" sz="2700" u="none" cap="none" strike="noStrike">
                          <a:solidFill>
                            <a:srgbClr val="787878"/>
                          </a:solidFill>
                        </a:rPr>
                        <a:t>재수강률</a:t>
                      </a:r>
                      <a:endParaRPr b="1" sz="2700" u="none" cap="none" strike="noStrike">
                        <a:solidFill>
                          <a:srgbClr val="787878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85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>
                          <a:solidFill>
                            <a:schemeClr val="dk1"/>
                          </a:solidFill>
                        </a:rPr>
                        <a:t>76.15%</a:t>
                      </a:r>
                      <a:endParaRPr sz="2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85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>
                          <a:solidFill>
                            <a:schemeClr val="dk1"/>
                          </a:solidFill>
                        </a:rPr>
                        <a:t>66.06%</a:t>
                      </a:r>
                      <a:endParaRPr sz="2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85:5:2"/>
                      </a:ext>
                    </a:extLst>
                  </a:tcPr>
                </a:tc>
              </a:tr>
              <a:tr h="1074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b="1" lang="en-US" sz="2700" u="none" cap="none" strike="noStrike">
                          <a:solidFill>
                            <a:srgbClr val="787878"/>
                          </a:solidFill>
                        </a:rPr>
                        <a:t>이탈률</a:t>
                      </a:r>
                      <a:endParaRPr b="1" sz="2700" u="none" cap="none" strike="noStrike">
                        <a:solidFill>
                          <a:srgbClr val="787878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85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>
                          <a:solidFill>
                            <a:schemeClr val="dk1"/>
                          </a:solidFill>
                        </a:rPr>
                        <a:t>4.26%</a:t>
                      </a:r>
                      <a:endParaRPr sz="2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85: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>
                          <a:solidFill>
                            <a:schemeClr val="dk1"/>
                          </a:solidFill>
                        </a:rPr>
                        <a:t>5.09%</a:t>
                      </a:r>
                      <a:endParaRPr sz="2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85:6:2"/>
                      </a:ext>
                    </a:extLst>
                  </a:tcPr>
                </a:tc>
              </a:tr>
            </a:tbl>
          </a:graphicData>
        </a:graphic>
      </p:graphicFrame>
      <p:graphicFrame>
        <p:nvGraphicFramePr>
          <p:cNvPr id="86" name="Google Shape;86;g3bb7a0e11e6_0_1"/>
          <p:cNvGraphicFramePr/>
          <p:nvPr/>
        </p:nvGraphicFramePr>
        <p:xfrm>
          <a:off x="16558350" y="5372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{C73B2DFF-F49C-45CD-A2D8-0BA848A6A658}</a:tableStyleId>
              </a:tblPr>
              <a:tblGrid>
                <a:gridCol w="1919700"/>
                <a:gridCol w="1919700"/>
                <a:gridCol w="1919700"/>
              </a:tblGrid>
              <a:tr h="1000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C2C2"/>
                    </a:solidFill>
                    <a:extLst>
                      <a:ext uri="http://customooxmlschemas.google.com/">
                        <go:slidesCustomData xmlns:go="http://customooxmlschemas.google.com/" cellId="86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b="1" lang="en-US" sz="2700" u="none" cap="none" strike="noStrike">
                          <a:solidFill>
                            <a:srgbClr val="787878"/>
                          </a:solidFill>
                        </a:rPr>
                        <a:t>2025년</a:t>
                      </a:r>
                      <a:endParaRPr b="1" sz="2700" u="none" cap="none" strike="noStrike">
                        <a:solidFill>
                          <a:srgbClr val="787878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CDCD"/>
                    </a:solidFill>
                    <a:extLst>
                      <a:ext uri="http://customooxmlschemas.google.com/">
                        <go:slidesCustomData xmlns:go="http://customooxmlschemas.google.com/" cellId="86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rgbClr val="FCFCFC"/>
                          </a:solidFill>
                        </a:rPr>
                        <a:t>2026년</a:t>
                      </a:r>
                      <a:endParaRPr b="1" sz="2800" u="none" cap="none" strike="noStrike">
                        <a:solidFill>
                          <a:srgbClr val="FCFCFC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86:0:2"/>
                      </a:ext>
                    </a:extLst>
                  </a:tcPr>
                </a:tc>
              </a:tr>
              <a:tr h="1289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666666"/>
                          </a:solidFill>
                        </a:rPr>
                        <a:t>개강인원</a:t>
                      </a:r>
                      <a:endParaRPr b="1" sz="2600" u="none" cap="none" strike="noStrike">
                        <a:solidFill>
                          <a:srgbClr val="666666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86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>
                          <a:solidFill>
                            <a:schemeClr val="dk1"/>
                          </a:solidFill>
                        </a:rPr>
                        <a:t>169</a:t>
                      </a:r>
                      <a:endParaRPr sz="2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6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>
                          <a:solidFill>
                            <a:schemeClr val="dk1"/>
                          </a:solidFill>
                        </a:rPr>
                        <a:t>144</a:t>
                      </a:r>
                      <a:endParaRPr sz="2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86:1:2"/>
                      </a:ext>
                    </a:extLst>
                  </a:tcPr>
                </a:tc>
              </a:tr>
              <a:tr h="1289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666666"/>
                          </a:solidFill>
                        </a:rPr>
                        <a:t>신규전액</a:t>
                      </a:r>
                      <a:endParaRPr b="1" sz="2600" u="none" cap="none" strike="noStrike">
                        <a:solidFill>
                          <a:srgbClr val="666666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666666"/>
                          </a:solidFill>
                        </a:rPr>
                        <a:t>환불 수</a:t>
                      </a:r>
                      <a:endParaRPr b="1" sz="2600" u="none" cap="none" strike="noStrike">
                        <a:solidFill>
                          <a:srgbClr val="666666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86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>
                          <a:solidFill>
                            <a:schemeClr val="dk1"/>
                          </a:solidFill>
                        </a:rPr>
                        <a:t>29</a:t>
                      </a:r>
                      <a:endParaRPr sz="2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6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>
                          <a:solidFill>
                            <a:schemeClr val="dk1"/>
                          </a:solidFill>
                        </a:rPr>
                        <a:t>13</a:t>
                      </a:r>
                      <a:endParaRPr sz="2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86:2:2"/>
                      </a:ext>
                    </a:extLst>
                  </a:tcPr>
                </a:tc>
              </a:tr>
              <a:tr h="1289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666666"/>
                          </a:solidFill>
                        </a:rPr>
                        <a:t>신규전액</a:t>
                      </a:r>
                      <a:endParaRPr b="1" sz="2600" u="none" cap="none" strike="noStrike">
                        <a:solidFill>
                          <a:srgbClr val="666666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666666"/>
                          </a:solidFill>
                        </a:rPr>
                        <a:t>환불률</a:t>
                      </a:r>
                      <a:endParaRPr b="1" sz="2600" u="none" cap="none" strike="noStrike">
                        <a:solidFill>
                          <a:srgbClr val="666666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86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>
                          <a:solidFill>
                            <a:schemeClr val="dk1"/>
                          </a:solidFill>
                        </a:rPr>
                        <a:t>17.16%</a:t>
                      </a:r>
                      <a:endParaRPr sz="2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6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>
                          <a:solidFill>
                            <a:schemeClr val="dk1"/>
                          </a:solidFill>
                        </a:rPr>
                        <a:t>9.03%</a:t>
                      </a:r>
                      <a:endParaRPr sz="2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86:3:2"/>
                      </a:ext>
                    </a:extLst>
                  </a:tcPr>
                </a:tc>
              </a:tr>
              <a:tr h="1289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666666"/>
                          </a:solidFill>
                        </a:rPr>
                        <a:t>월 신규</a:t>
                      </a:r>
                      <a:endParaRPr b="1" sz="2600" u="none" cap="none" strike="noStrike">
                        <a:solidFill>
                          <a:srgbClr val="666666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666666"/>
                          </a:solidFill>
                        </a:rPr>
                        <a:t>전액환불률</a:t>
                      </a:r>
                      <a:endParaRPr b="1" sz="2600" u="none" cap="none" strike="noStrike">
                        <a:solidFill>
                          <a:srgbClr val="666666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86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>
                          <a:solidFill>
                            <a:schemeClr val="dk1"/>
                          </a:solidFill>
                        </a:rPr>
                        <a:t>17.16%</a:t>
                      </a:r>
                      <a:endParaRPr sz="2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6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>
                          <a:solidFill>
                            <a:schemeClr val="dk1"/>
                          </a:solidFill>
                        </a:rPr>
                        <a:t>8.81%</a:t>
                      </a:r>
                      <a:endParaRPr sz="2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86:4:2"/>
                      </a:ext>
                    </a:extLst>
                  </a:tcPr>
                </a:tc>
              </a:tr>
              <a:tr h="1289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666666"/>
                          </a:solidFill>
                        </a:rPr>
                        <a:t>분기 신규</a:t>
                      </a:r>
                      <a:endParaRPr b="1" sz="2600" u="none" cap="none" strike="noStrike">
                        <a:solidFill>
                          <a:srgbClr val="666666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666666"/>
                          </a:solidFill>
                        </a:rPr>
                        <a:t>전액환불률</a:t>
                      </a:r>
                      <a:endParaRPr b="1" sz="2600" u="none" cap="none" strike="noStrike">
                        <a:solidFill>
                          <a:srgbClr val="666666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86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>
                          <a:solidFill>
                            <a:schemeClr val="dk1"/>
                          </a:solidFill>
                        </a:rPr>
                        <a:t>17.16%</a:t>
                      </a:r>
                      <a:endParaRPr sz="2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6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>
                          <a:solidFill>
                            <a:schemeClr val="dk1"/>
                          </a:solidFill>
                        </a:rPr>
                        <a:t>8.81%</a:t>
                      </a:r>
                      <a:endParaRPr sz="2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86:5:2"/>
                      </a:ext>
                    </a:extLst>
                  </a:tcPr>
                </a:tc>
              </a:tr>
            </a:tbl>
          </a:graphicData>
        </a:graphic>
      </p:graphicFrame>
      <p:sp>
        <p:nvSpPr>
          <p:cNvPr id="87" name="Google Shape;87;g3bb7a0e11e6_0_1"/>
          <p:cNvSpPr txBox="1"/>
          <p:nvPr/>
        </p:nvSpPr>
        <p:spPr>
          <a:xfrm>
            <a:off x="4914900" y="2133600"/>
            <a:ext cx="16281300" cy="16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33"/>
              <a:buFont typeface="Arial"/>
              <a:buNone/>
            </a:pPr>
            <a:r>
              <a:rPr b="1" i="0" lang="en-US" sz="4533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 xml:space="preserve">수학온택트본부 4월 </a:t>
            </a:r>
            <a:r>
              <a:rPr b="1" lang="en-US" sz="4533">
                <a:solidFill>
                  <a:srgbClr val="787878"/>
                </a:solidFill>
              </a:rPr>
              <a:t>2</a:t>
            </a:r>
            <a:r>
              <a:rPr b="1" i="0" lang="en-US" sz="4533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>주차 주요지표현황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33"/>
              <a:buFont typeface="Arial"/>
              <a:buNone/>
            </a:pPr>
            <a:r>
              <a:rPr b="1" i="0" lang="en-US" sz="4533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 xml:space="preserve">(26년 </a:t>
            </a:r>
            <a:r>
              <a:rPr b="1" lang="en-US" sz="4533">
                <a:solidFill>
                  <a:srgbClr val="787878"/>
                </a:solidFill>
              </a:rPr>
              <a:t>4</a:t>
            </a:r>
            <a:r>
              <a:rPr b="1" i="0" lang="en-US" sz="4533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 xml:space="preserve">월 </a:t>
            </a:r>
            <a:r>
              <a:rPr b="1" lang="en-US" sz="4533">
                <a:solidFill>
                  <a:srgbClr val="787878"/>
                </a:solidFill>
              </a:rPr>
              <a:t>6</a:t>
            </a:r>
            <a:r>
              <a:rPr b="1" i="0" lang="en-US" sz="4533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 xml:space="preserve">일 ~ 26년 4월 </a:t>
            </a:r>
            <a:r>
              <a:rPr b="1" lang="en-US" sz="4533">
                <a:solidFill>
                  <a:srgbClr val="787878"/>
                </a:solidFill>
              </a:rPr>
              <a:t>12</a:t>
            </a:r>
            <a:r>
              <a:rPr b="1" i="0" lang="en-US" sz="4533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>일)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" name="Google Shape;92;g3bf8310c149_0_7"/>
          <p:cNvGraphicFramePr/>
          <p:nvPr/>
        </p:nvGraphicFramePr>
        <p:xfrm>
          <a:off x="3570900" y="5693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{C73B2DFF-F49C-45CD-A2D8-0BA848A6A658}</a:tableStyleId>
              </a:tblPr>
              <a:tblGrid>
                <a:gridCol w="1714500"/>
                <a:gridCol w="1714500"/>
                <a:gridCol w="1714500"/>
                <a:gridCol w="1714500"/>
                <a:gridCol w="1714500"/>
                <a:gridCol w="1714500"/>
              </a:tblGrid>
              <a:tr h="1872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</a:rPr>
                        <a:t>과목</a:t>
                      </a:r>
                      <a:endParaRPr b="1" sz="29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C2C2"/>
                    </a:solidFill>
                    <a:extLst>
                      <a:ext uri="http://customooxmlschemas.google.com/">
                        <go:slidesCustomData xmlns:go="http://customooxmlschemas.google.com/" cellId="92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666666"/>
                          </a:solidFill>
                        </a:rPr>
                        <a:t>재수강률</a:t>
                      </a:r>
                      <a:endParaRPr b="1" sz="2900" u="none" cap="none" strike="noStrike">
                        <a:solidFill>
                          <a:srgbClr val="666666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92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666666"/>
                          </a:solidFill>
                        </a:rPr>
                        <a:t>연장률</a:t>
                      </a:r>
                      <a:endParaRPr b="1" sz="2900" u="none" cap="none" strike="noStrike">
                        <a:solidFill>
                          <a:srgbClr val="666666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92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666666"/>
                          </a:solidFill>
                        </a:rPr>
                        <a:t>이탈률</a:t>
                      </a:r>
                      <a:endParaRPr b="1" sz="2900" u="none" cap="none" strike="noStrike">
                        <a:solidFill>
                          <a:srgbClr val="666666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92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666666"/>
                          </a:solidFill>
                        </a:rPr>
                        <a:t>환불률</a:t>
                      </a:r>
                      <a:endParaRPr b="1" sz="2900" u="none" cap="none" strike="noStrike">
                        <a:solidFill>
                          <a:srgbClr val="666666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92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666666"/>
                          </a:solidFill>
                        </a:rPr>
                        <a:t>신규전액환불률</a:t>
                      </a:r>
                      <a:endParaRPr b="1" sz="2900" u="none" cap="none" strike="noStrike">
                        <a:solidFill>
                          <a:srgbClr val="666666"/>
                        </a:solidFill>
                      </a:endParaRPr>
                    </a:p>
                  </a:txBody>
                  <a:tcPr marT="19050" marB="19050" marR="91425" marL="91425" anchor="ctr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92:0:5"/>
                      </a:ext>
                    </a:extLst>
                  </a:tcPr>
                </a:tc>
              </a:tr>
              <a:tr h="2331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787878"/>
                          </a:solidFill>
                        </a:rPr>
                        <a:t>수학</a:t>
                      </a:r>
                      <a:endParaRPr b="1" sz="2900" u="none" cap="none" strike="noStrike">
                        <a:solidFill>
                          <a:srgbClr val="787878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92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100"/>
                        <a:buFont typeface="Arial"/>
                        <a:buNone/>
                      </a:pPr>
                      <a:r>
                        <a:rPr lang="en-US" sz="3100">
                          <a:solidFill>
                            <a:srgbClr val="434343"/>
                          </a:solidFill>
                        </a:rPr>
                        <a:t>58.84%</a:t>
                      </a:r>
                      <a:endParaRPr sz="3100" u="none" cap="none" strike="noStrike">
                        <a:solidFill>
                          <a:srgbClr val="434343"/>
                        </a:solidFill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2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100"/>
                        <a:buFont typeface="Arial"/>
                        <a:buNone/>
                      </a:pPr>
                      <a:r>
                        <a:rPr lang="en-US" sz="3100">
                          <a:solidFill>
                            <a:srgbClr val="434343"/>
                          </a:solidFill>
                        </a:rPr>
                        <a:t>76.57%</a:t>
                      </a:r>
                      <a:endParaRPr sz="3100" u="none" cap="none" strike="noStrike">
                        <a:solidFill>
                          <a:srgbClr val="434343"/>
                        </a:solidFill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2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100"/>
                        <a:buFont typeface="Arial"/>
                        <a:buNone/>
                      </a:pPr>
                      <a:r>
                        <a:rPr lang="en-US" sz="3100">
                          <a:solidFill>
                            <a:srgbClr val="434343"/>
                          </a:solidFill>
                        </a:rPr>
                        <a:t>5.39%</a:t>
                      </a:r>
                      <a:endParaRPr sz="3100" u="none" cap="none" strike="noStrike">
                        <a:solidFill>
                          <a:srgbClr val="434343"/>
                        </a:solidFill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2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100"/>
                        <a:buFont typeface="Arial"/>
                        <a:buNone/>
                      </a:pPr>
                      <a:r>
                        <a:rPr lang="en-US" sz="3100" u="none" cap="none" strike="noStrike">
                          <a:solidFill>
                            <a:srgbClr val="434343"/>
                          </a:solidFill>
                        </a:rPr>
                        <a:t>2.69%</a:t>
                      </a:r>
                      <a:endParaRPr sz="3100" u="none" cap="none" strike="noStrike">
                        <a:solidFill>
                          <a:srgbClr val="434343"/>
                        </a:solidFill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2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100"/>
                        <a:buFont typeface="Arial"/>
                        <a:buNone/>
                      </a:pPr>
                      <a:r>
                        <a:rPr lang="en-US" sz="3100">
                          <a:solidFill>
                            <a:srgbClr val="434343"/>
                          </a:solidFill>
                        </a:rPr>
                        <a:t>9.03%</a:t>
                      </a:r>
                      <a:endParaRPr sz="3100" u="none" cap="none" strike="noStrike">
                        <a:solidFill>
                          <a:srgbClr val="434343"/>
                        </a:solidFill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2:1:5"/>
                      </a:ext>
                    </a:extLst>
                  </a:tcPr>
                </a:tc>
              </a:tr>
              <a:tr h="2003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787878"/>
                          </a:solidFill>
                        </a:rPr>
                        <a:t>영어</a:t>
                      </a:r>
                      <a:endParaRPr b="1" sz="2900" u="none" cap="none" strike="noStrike">
                        <a:solidFill>
                          <a:srgbClr val="787878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  <a:extLst>
                      <a:ext uri="http://customooxmlschemas.google.com/">
                        <go:slidesCustomData xmlns:go="http://customooxmlschemas.google.com/" cellId="92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100"/>
                        <a:buFont typeface="Arial"/>
                        <a:buNone/>
                      </a:pPr>
                      <a:r>
                        <a:rPr lang="en-US" sz="3100">
                          <a:solidFill>
                            <a:srgbClr val="434343"/>
                          </a:solidFill>
                        </a:rPr>
                        <a:t/>
                      </a:r>
                      <a:endParaRPr sz="3100" u="none" cap="none" strike="noStrike">
                        <a:solidFill>
                          <a:srgbClr val="434343"/>
                        </a:solidFill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2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100"/>
                        <a:buFont typeface="Arial"/>
                        <a:buNone/>
                      </a:pPr>
                      <a:r>
                        <a:rPr lang="en-US" sz="3100">
                          <a:solidFill>
                            <a:srgbClr val="434343"/>
                          </a:solidFill>
                        </a:rPr>
                        <a:t/>
                      </a:r>
                      <a:endParaRPr sz="3100" u="none" cap="none" strike="noStrike">
                        <a:solidFill>
                          <a:srgbClr val="434343"/>
                        </a:solidFill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2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100"/>
                        <a:buFont typeface="Arial"/>
                        <a:buNone/>
                      </a:pPr>
                      <a:r>
                        <a:rPr lang="en-US" sz="3100">
                          <a:solidFill>
                            <a:srgbClr val="434343"/>
                          </a:solidFill>
                        </a:rPr>
                        <a:t/>
                      </a:r>
                      <a:endParaRPr sz="3100" u="none" cap="none" strike="noStrike">
                        <a:solidFill>
                          <a:srgbClr val="434343"/>
                        </a:solidFill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2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100"/>
                        <a:buFont typeface="Arial"/>
                        <a:buNone/>
                      </a:pPr>
                      <a:r>
                        <a:rPr lang="en-US" sz="3100">
                          <a:solidFill>
                            <a:srgbClr val="434343"/>
                          </a:solidFill>
                        </a:rPr>
                        <a:t/>
                      </a:r>
                      <a:endParaRPr sz="3100" u="none" cap="none" strike="noStrike">
                        <a:solidFill>
                          <a:srgbClr val="434343"/>
                        </a:solidFill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2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100"/>
                        <a:buFont typeface="Arial"/>
                        <a:buNone/>
                      </a:pPr>
                      <a:r>
                        <a:rPr lang="en-US" sz="3100">
                          <a:solidFill>
                            <a:srgbClr val="434343"/>
                          </a:solidFill>
                        </a:rPr>
                        <a:t/>
                      </a:r>
                      <a:endParaRPr sz="3100" u="none" cap="none" strike="noStrike">
                        <a:solidFill>
                          <a:srgbClr val="434343"/>
                        </a:solidFill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92:2:5"/>
                      </a:ext>
                    </a:extLst>
                  </a:tcPr>
                </a:tc>
              </a:tr>
            </a:tbl>
          </a:graphicData>
        </a:graphic>
      </p:graphicFrame>
      <p:pic>
        <p:nvPicPr>
          <p:cNvPr id="93" name="Google Shape;93;g3bf8310c149_0_7" title="차트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402600" y="5693750"/>
            <a:ext cx="8572500" cy="62076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g3bf8310c149_0_7"/>
          <p:cNvSpPr txBox="1"/>
          <p:nvPr/>
        </p:nvSpPr>
        <p:spPr>
          <a:xfrm>
            <a:off x="4914900" y="2133600"/>
            <a:ext cx="16281300" cy="16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33"/>
              <a:buFont typeface="Arial"/>
              <a:buNone/>
            </a:pPr>
            <a:r>
              <a:rPr b="1" i="0" lang="en-US" sz="4533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 xml:space="preserve">수학온택트본부 4월 </a:t>
            </a:r>
            <a:r>
              <a:rPr b="1" lang="en-US" sz="4533">
                <a:solidFill>
                  <a:srgbClr val="787878"/>
                </a:solidFill>
              </a:rPr>
              <a:t>2</a:t>
            </a:r>
            <a:r>
              <a:rPr b="1" i="0" lang="en-US" sz="4533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>주차 주요지표현황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33"/>
              <a:buFont typeface="Arial"/>
              <a:buNone/>
            </a:pPr>
            <a:r>
              <a:rPr b="1" i="0" lang="en-US" sz="4533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 xml:space="preserve">(26년 </a:t>
            </a:r>
            <a:r>
              <a:rPr b="1" lang="en-US" sz="4533">
                <a:solidFill>
                  <a:srgbClr val="787878"/>
                </a:solidFill>
              </a:rPr>
              <a:t>4</a:t>
            </a:r>
            <a:r>
              <a:rPr b="1" i="0" lang="en-US" sz="4533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 xml:space="preserve">월 </a:t>
            </a:r>
            <a:r>
              <a:rPr b="1" lang="en-US" sz="4533">
                <a:solidFill>
                  <a:srgbClr val="787878"/>
                </a:solidFill>
              </a:rPr>
              <a:t>6</a:t>
            </a:r>
            <a:r>
              <a:rPr b="1" i="0" lang="en-US" sz="4533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 xml:space="preserve">일 ~ 26년 4월 </a:t>
            </a:r>
            <a:r>
              <a:rPr b="1" lang="en-US" sz="4533">
                <a:solidFill>
                  <a:srgbClr val="787878"/>
                </a:solidFill>
              </a:rPr>
              <a:t>12</a:t>
            </a:r>
            <a:r>
              <a:rPr b="1" i="0" lang="en-US" sz="4533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>일)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b7a0e11e6_0_9"/>
          <p:cNvSpPr txBox="1"/>
          <p:nvPr/>
        </p:nvSpPr>
        <p:spPr>
          <a:xfrm>
            <a:off x="3771900" y="2425700"/>
            <a:ext cx="18389700" cy="800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33"/>
              <a:buFont typeface="Arial"/>
              <a:buNone/>
            </a:pPr>
            <a:r>
              <a:rPr b="1" i="0" lang="en-US" sz="4533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>주요 지표 추이 (수학)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g3bb7a0e11e6_0_9" title="차트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40443" y="4028764"/>
            <a:ext cx="14712226" cy="8880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b7a0e11e6_0_14"/>
          <p:cNvSpPr txBox="1"/>
          <p:nvPr/>
        </p:nvSpPr>
        <p:spPr>
          <a:xfrm>
            <a:off x="3771900" y="2425700"/>
            <a:ext cx="183897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33"/>
              <a:buFont typeface="Arial"/>
              <a:buNone/>
            </a:pPr>
            <a:r>
              <a:rPr b="1" i="0" lang="en-US" sz="4533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 xml:space="preserve">수학 실별 재수강률 (26년 4월 </a:t>
            </a:r>
            <a:r>
              <a:rPr b="1" lang="en-US" sz="4533">
                <a:solidFill>
                  <a:srgbClr val="787878"/>
                </a:solidFill>
              </a:rPr>
              <a:t>2</a:t>
            </a:r>
            <a:r>
              <a:rPr b="1" i="0" lang="en-US" sz="4533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>주차)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6" name="Google Shape;106;g3bb7a0e11e6_0_14"/>
          <p:cNvGraphicFramePr/>
          <p:nvPr/>
        </p:nvGraphicFramePr>
        <p:xfrm>
          <a:off x="3771875" y="38369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{C73B2DFF-F49C-45CD-A2D8-0BA848A6A658}</a:tableStyleId>
              </a:tblPr>
              <a:tblGrid>
                <a:gridCol w="2298700"/>
                <a:gridCol w="2298700"/>
                <a:gridCol w="2298700"/>
                <a:gridCol w="2298700"/>
                <a:gridCol w="2298700"/>
                <a:gridCol w="2298700"/>
                <a:gridCol w="2298700"/>
                <a:gridCol w="2298700"/>
              </a:tblGrid>
              <a:tr h="923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부서</a:t>
                      </a:r>
                      <a:endParaRPr b="1" sz="2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06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실장</a:t>
                      </a:r>
                      <a:endParaRPr b="1" sz="2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06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도래자</a:t>
                      </a:r>
                      <a:endParaRPr b="1" sz="2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06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연장</a:t>
                      </a:r>
                      <a:endParaRPr b="1" sz="2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06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미연장</a:t>
                      </a:r>
                      <a:endParaRPr b="1" sz="2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06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환불</a:t>
                      </a:r>
                      <a:endParaRPr b="1" sz="2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06: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재수강률</a:t>
                      </a:r>
                      <a:endParaRPr b="1" sz="2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06:0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환불률</a:t>
                      </a:r>
                      <a:endParaRPr b="1" sz="2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06:0:7"/>
                      </a:ext>
                    </a:extLst>
                  </a:tcPr>
                </a:tc>
              </a:tr>
              <a:tr h="923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초등실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박재국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50.00%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1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33.33%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1:7"/>
                      </a:ext>
                    </a:extLst>
                  </a:tcPr>
                </a:tc>
              </a:tr>
              <a:tr h="923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중등1실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박재국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2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61.29%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2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19.35%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2:7"/>
                      </a:ext>
                    </a:extLst>
                  </a:tcPr>
                </a:tc>
              </a:tr>
              <a:tr h="923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중등2실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박재국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39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3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56.41%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3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23.08%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3:7"/>
                      </a:ext>
                    </a:extLst>
                  </a:tcPr>
                </a:tc>
              </a:tr>
              <a:tr h="923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중등3실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조홍래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4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4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68.00%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4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16.00%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4:7"/>
                      </a:ext>
                    </a:extLst>
                  </a:tcPr>
                </a:tc>
              </a:tr>
              <a:tr h="923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고등1실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조홍래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43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5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5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58.14%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5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27.91%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5:7"/>
                      </a:ext>
                    </a:extLst>
                  </a:tcPr>
                </a:tc>
              </a:tr>
              <a:tr h="923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고등2실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이상준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54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6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6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6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64.81%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6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22.22%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6:7"/>
                      </a:ext>
                    </a:extLst>
                  </a:tcPr>
                </a:tc>
              </a:tr>
              <a:tr h="923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고등3실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이상준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7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7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7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46.88%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7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25.00%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7:7"/>
                      </a:ext>
                    </a:extLst>
                  </a:tcPr>
                </a:tc>
              </a:tr>
              <a:tr h="953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/>
                        <a:t>B2B사업실</a:t>
                      </a:r>
                      <a:endParaRPr sz="2900" u="none" cap="none" strike="noStrike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이상준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8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8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8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8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8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65.22%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8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21.74%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8:7"/>
                      </a:ext>
                    </a:extLst>
                  </a:tcPr>
                </a:tc>
              </a:tr>
              <a:tr h="923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/>
                        <a:t>주말팀</a:t>
                      </a:r>
                      <a:endParaRPr sz="2900" u="none" cap="none" strike="noStrike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조홍래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9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9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9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9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9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42.86%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9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28.57%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6:9:7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b7a0e11e6_0_31"/>
          <p:cNvSpPr txBox="1"/>
          <p:nvPr/>
        </p:nvSpPr>
        <p:spPr>
          <a:xfrm>
            <a:off x="3771900" y="2425700"/>
            <a:ext cx="183897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33"/>
              <a:buFont typeface="Arial"/>
              <a:buNone/>
            </a:pPr>
            <a:r>
              <a:rPr b="1" i="0" lang="en-US" sz="4533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>수학 실별 재수강률 (26년 4월)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2" name="Google Shape;112;g3bb7a0e11e6_0_31"/>
          <p:cNvGraphicFramePr/>
          <p:nvPr/>
        </p:nvGraphicFramePr>
        <p:xfrm>
          <a:off x="3771875" y="38369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{C73B2DFF-F49C-45CD-A2D8-0BA848A6A658}</a:tableStyleId>
              </a:tblPr>
              <a:tblGrid>
                <a:gridCol w="2298700"/>
                <a:gridCol w="2298700"/>
                <a:gridCol w="2298700"/>
                <a:gridCol w="2298700"/>
                <a:gridCol w="2298700"/>
                <a:gridCol w="2298700"/>
                <a:gridCol w="2298700"/>
                <a:gridCol w="2298700"/>
              </a:tblGrid>
              <a:tr h="923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부서</a:t>
                      </a:r>
                      <a:endParaRPr b="1" sz="2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12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실장</a:t>
                      </a:r>
                      <a:endParaRPr b="1" sz="2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12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도래자</a:t>
                      </a:r>
                      <a:endParaRPr b="1" sz="2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12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연장</a:t>
                      </a:r>
                      <a:endParaRPr b="1" sz="2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12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미연장</a:t>
                      </a:r>
                      <a:endParaRPr b="1" sz="2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12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환불</a:t>
                      </a:r>
                      <a:endParaRPr b="1" sz="2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12: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재수강률</a:t>
                      </a:r>
                      <a:endParaRPr b="1" sz="2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12:0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환불률</a:t>
                      </a:r>
                      <a:endParaRPr b="1" sz="2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91425" marL="9142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12:0:7"/>
                      </a:ext>
                    </a:extLst>
                  </a:tcPr>
                </a:tc>
              </a:tr>
              <a:tr h="923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초등실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박재국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46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56.52%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1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32.61%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1:7"/>
                      </a:ext>
                    </a:extLst>
                  </a:tcPr>
                </a:tc>
              </a:tr>
              <a:tr h="923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중등1실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박재국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82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54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2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65.85%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2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20.73%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2:7"/>
                      </a:ext>
                    </a:extLst>
                  </a:tcPr>
                </a:tc>
              </a:tr>
              <a:tr h="923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중등2실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박재국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92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59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3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64.13%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3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22.83%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3:7"/>
                      </a:ext>
                    </a:extLst>
                  </a:tcPr>
                </a:tc>
              </a:tr>
              <a:tr h="923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중등3실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조홍래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97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64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4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4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65.98%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4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15.46%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4:7"/>
                      </a:ext>
                    </a:extLst>
                  </a:tcPr>
                </a:tc>
              </a:tr>
              <a:tr h="923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고등1실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조홍래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130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5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5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69.23%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5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16.15%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5:7"/>
                      </a:ext>
                    </a:extLst>
                  </a:tcPr>
                </a:tc>
              </a:tr>
              <a:tr h="923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고등2실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이상준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106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6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6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6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69.81%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6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17.92%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6:7"/>
                      </a:ext>
                    </a:extLst>
                  </a:tcPr>
                </a:tc>
              </a:tr>
              <a:tr h="923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고등3실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이상준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106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7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7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7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69.81%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7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17.92%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7:7"/>
                      </a:ext>
                    </a:extLst>
                  </a:tcPr>
                </a:tc>
              </a:tr>
              <a:tr h="953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/>
                        <a:t>B2B사업실</a:t>
                      </a:r>
                      <a:endParaRPr sz="2900" u="none" cap="none" strike="noStrike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이상준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8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53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8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8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8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8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66.04%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8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22.64%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8:7"/>
                      </a:ext>
                    </a:extLst>
                  </a:tcPr>
                </a:tc>
              </a:tr>
              <a:tr h="923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/>
                        <a:t>주말팀</a:t>
                      </a:r>
                      <a:endParaRPr sz="2900" u="none" cap="none" strike="noStrike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조홍래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9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9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9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9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9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56.67%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9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20.00%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2:9:7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b7a0e11e6_0_36"/>
          <p:cNvSpPr txBox="1"/>
          <p:nvPr/>
        </p:nvSpPr>
        <p:spPr>
          <a:xfrm>
            <a:off x="3771900" y="2425700"/>
            <a:ext cx="183897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33"/>
              <a:buFont typeface="Arial"/>
              <a:buNone/>
            </a:pPr>
            <a:r>
              <a:rPr b="1" i="0" lang="en-US" sz="4533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>수학 실별 재수강률 (26년 2분기)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8" name="Google Shape;118;g3bb7a0e11e6_0_36"/>
          <p:cNvGraphicFramePr/>
          <p:nvPr/>
        </p:nvGraphicFramePr>
        <p:xfrm>
          <a:off x="3771875" y="38369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{C73B2DFF-F49C-45CD-A2D8-0BA848A6A658}</a:tableStyleId>
              </a:tblPr>
              <a:tblGrid>
                <a:gridCol w="2298700"/>
                <a:gridCol w="2298700"/>
                <a:gridCol w="2298700"/>
                <a:gridCol w="2298700"/>
                <a:gridCol w="2298700"/>
                <a:gridCol w="2298700"/>
                <a:gridCol w="2298700"/>
                <a:gridCol w="2298700"/>
              </a:tblGrid>
              <a:tr h="923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부서</a:t>
                      </a:r>
                      <a:endParaRPr b="1" sz="2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18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실장</a:t>
                      </a:r>
                      <a:endParaRPr b="1" sz="2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18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도래자</a:t>
                      </a:r>
                      <a:endParaRPr b="1" sz="2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18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연장</a:t>
                      </a:r>
                      <a:endParaRPr b="1" sz="2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18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미연장</a:t>
                      </a:r>
                      <a:endParaRPr b="1" sz="2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18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환불</a:t>
                      </a:r>
                      <a:endParaRPr b="1" sz="2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18: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재수강률</a:t>
                      </a:r>
                      <a:endParaRPr b="1" sz="2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18:0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환불률</a:t>
                      </a:r>
                      <a:endParaRPr b="1" sz="2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91425" marL="9142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18:0:7"/>
                      </a:ext>
                    </a:extLst>
                  </a:tcPr>
                </a:tc>
              </a:tr>
              <a:tr h="923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초등실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8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박재국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8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46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8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8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8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8: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56.52%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8:1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32.61%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8:1:7"/>
                      </a:ext>
                    </a:extLst>
                  </a:tcPr>
                </a:tc>
              </a:tr>
              <a:tr h="923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중등1실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8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박재국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8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82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8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54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8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8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8:2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65.85%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8:2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20.73%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8:2:7"/>
                      </a:ext>
                    </a:extLst>
                  </a:tcPr>
                </a:tc>
              </a:tr>
              <a:tr h="923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중등2실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8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박재국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8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92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8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59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8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8: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8:3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64.13%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8:3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22.83%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8:3:7"/>
                      </a:ext>
                    </a:extLst>
                  </a:tcPr>
                </a:tc>
              </a:tr>
              <a:tr h="923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중등3실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8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조홍래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8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97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8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64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8: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8:4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8:4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65.98%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8:4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15.46%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8:4:7"/>
                      </a:ext>
                    </a:extLst>
                  </a:tcPr>
                </a:tc>
              </a:tr>
              <a:tr h="923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고등1실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8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조홍래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8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130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8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8: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8:5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8:5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69.23%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8:5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16.15%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8:5:7"/>
                      </a:ext>
                    </a:extLst>
                  </a:tcPr>
                </a:tc>
              </a:tr>
              <a:tr h="923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고등2실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8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이상준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8: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106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8: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8:6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8:6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8:6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69.81%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8:6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17.92%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8:6:7"/>
                      </a:ext>
                    </a:extLst>
                  </a:tcPr>
                </a:tc>
              </a:tr>
              <a:tr h="923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고등3실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8: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이상준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8: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106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8: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8:7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8:7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8:7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69.81%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8:7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17.92%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8:7:7"/>
                      </a:ext>
                    </a:extLst>
                  </a:tcPr>
                </a:tc>
              </a:tr>
              <a:tr h="953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/>
                        <a:t>B2B사업실</a:t>
                      </a:r>
                      <a:endParaRPr sz="2900" u="none" cap="none" strike="noStrike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8: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이상준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8:8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53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8:8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8:8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8:8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8:8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66.04%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8:8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22.64%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8:8:7"/>
                      </a:ext>
                    </a:extLst>
                  </a:tcPr>
                </a:tc>
              </a:tr>
              <a:tr h="923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/>
                        <a:t>주말팀</a:t>
                      </a:r>
                      <a:endParaRPr sz="2900" u="none" cap="none" strike="noStrike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8: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조홍래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8:9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8:9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8:9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8:9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8:9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56.67%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8:9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20.00%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18:9:7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b7a0e11e6_0_45"/>
          <p:cNvSpPr txBox="1"/>
          <p:nvPr/>
        </p:nvSpPr>
        <p:spPr>
          <a:xfrm>
            <a:off x="3771900" y="2425700"/>
            <a:ext cx="183897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33"/>
              <a:buFont typeface="Arial"/>
              <a:buNone/>
            </a:pPr>
            <a:r>
              <a:rPr b="1" i="0" lang="en-US" sz="4533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 xml:space="preserve">수학 실별 신규전액환불률 (26년 4월 </a:t>
            </a:r>
            <a:r>
              <a:rPr b="1" lang="en-US" sz="4533">
                <a:solidFill>
                  <a:srgbClr val="787878"/>
                </a:solidFill>
              </a:rPr>
              <a:t>2</a:t>
            </a:r>
            <a:r>
              <a:rPr b="1" i="0" lang="en-US" sz="4533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>주차)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24" name="Google Shape;124;g3bb7a0e11e6_0_45"/>
          <p:cNvGraphicFramePr/>
          <p:nvPr/>
        </p:nvGraphicFramePr>
        <p:xfrm>
          <a:off x="3771875" y="3935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{C73B2DFF-F49C-45CD-A2D8-0BA848A6A658}</a:tableStyleId>
              </a:tblPr>
              <a:tblGrid>
                <a:gridCol w="3677925"/>
                <a:gridCol w="3677925"/>
                <a:gridCol w="3677925"/>
                <a:gridCol w="3677925"/>
                <a:gridCol w="3677925"/>
              </a:tblGrid>
              <a:tr h="937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부서</a:t>
                      </a:r>
                      <a:endParaRPr b="1" sz="2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24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실장</a:t>
                      </a:r>
                      <a:endParaRPr b="1" sz="2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24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</a:rPr>
                        <a:t>개강인원</a:t>
                      </a:r>
                      <a:endParaRPr b="1" sz="29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24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</a:rPr>
                        <a:t>신규전액환불</a:t>
                      </a:r>
                      <a:endParaRPr b="1" sz="29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24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</a:rPr>
                        <a:t>신규전액환불률</a:t>
                      </a:r>
                      <a:endParaRPr b="1" sz="29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24:0:4"/>
                      </a:ext>
                    </a:extLst>
                  </a:tcPr>
                </a:tc>
              </a:tr>
              <a:tr h="908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초등실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4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박재국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4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4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4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11.11%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4:1:4"/>
                      </a:ext>
                    </a:extLst>
                  </a:tcPr>
                </a:tc>
              </a:tr>
              <a:tr h="908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중등1실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4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박재국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4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4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4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4:2:4"/>
                      </a:ext>
                    </a:extLst>
                  </a:tcPr>
                </a:tc>
              </a:tr>
              <a:tr h="908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중등2실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4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박재국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4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4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4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15.38%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4:3:4"/>
                      </a:ext>
                    </a:extLst>
                  </a:tcPr>
                </a:tc>
              </a:tr>
              <a:tr h="908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중등3실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4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조홍래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4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4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4: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5.56%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4:4:4"/>
                      </a:ext>
                    </a:extLst>
                  </a:tcPr>
                </a:tc>
              </a:tr>
              <a:tr h="908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고등1실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4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조홍래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4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4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4: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12.50%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4:5:4"/>
                      </a:ext>
                    </a:extLst>
                  </a:tcPr>
                </a:tc>
              </a:tr>
              <a:tr h="908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고등2실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4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이상준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4: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4: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4:6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9.09%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4:6:4"/>
                      </a:ext>
                    </a:extLst>
                  </a:tcPr>
                </a:tc>
              </a:tr>
              <a:tr h="908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고등3실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4: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이상준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4: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4: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4:7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14.81%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4:7:4"/>
                      </a:ext>
                    </a:extLst>
                  </a:tcPr>
                </a:tc>
              </a:tr>
              <a:tr h="908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00"/>
                        <a:t>B2B사업실</a:t>
                      </a:r>
                      <a:endParaRPr sz="2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4: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이상준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4:8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4:8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4:8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4:8:4"/>
                      </a:ext>
                    </a:extLst>
                  </a:tcPr>
                </a:tc>
              </a:tr>
              <a:tr h="937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00"/>
                        <a:t>주말팀</a:t>
                      </a:r>
                      <a:endParaRPr sz="2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4: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조홍래</a:t>
                      </a:r>
                      <a:endParaRPr sz="2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4:9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4:9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4:9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4:9:4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b7a0e11e6_0_49"/>
          <p:cNvSpPr txBox="1"/>
          <p:nvPr/>
        </p:nvSpPr>
        <p:spPr>
          <a:xfrm>
            <a:off x="3771900" y="2425700"/>
            <a:ext cx="183897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33"/>
              <a:buFont typeface="Arial"/>
              <a:buNone/>
            </a:pPr>
            <a:r>
              <a:rPr b="1" i="0" lang="en-US" sz="4533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>수학 실별 신규전액환불률 (26년 4월)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0" name="Google Shape;130;g3bb7a0e11e6_0_49"/>
          <p:cNvGraphicFramePr/>
          <p:nvPr/>
        </p:nvGraphicFramePr>
        <p:xfrm>
          <a:off x="3771875" y="3935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{C73B2DFF-F49C-45CD-A2D8-0BA848A6A658}</a:tableStyleId>
              </a:tblPr>
              <a:tblGrid>
                <a:gridCol w="3677925"/>
                <a:gridCol w="3677925"/>
                <a:gridCol w="3677925"/>
                <a:gridCol w="3677925"/>
                <a:gridCol w="3677925"/>
              </a:tblGrid>
              <a:tr h="91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부서</a:t>
                      </a:r>
                      <a:endParaRPr b="1" sz="2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30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실장</a:t>
                      </a:r>
                      <a:endParaRPr b="1" sz="2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30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</a:rPr>
                        <a:t>개강인원</a:t>
                      </a:r>
                      <a:endParaRPr b="1" sz="2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30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</a:rPr>
                        <a:t>신규전액환불</a:t>
                      </a:r>
                      <a:endParaRPr b="1" sz="2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30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</a:rPr>
                        <a:t>신규전액환불률</a:t>
                      </a:r>
                      <a:endParaRPr b="1" sz="2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91425" marL="9142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30:0:4"/>
                      </a:ext>
                    </a:extLst>
                  </a:tcPr>
                </a:tc>
              </a:tr>
              <a:tr h="91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초등실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0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박재국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0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0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0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10.53%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0:1:4"/>
                      </a:ext>
                    </a:extLst>
                  </a:tcPr>
                </a:tc>
              </a:tr>
              <a:tr h="91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중등1실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0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박재국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0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0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0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0:2:4"/>
                      </a:ext>
                    </a:extLst>
                  </a:tcPr>
                </a:tc>
              </a:tr>
              <a:tr h="91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중등2실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0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박재국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0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0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0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15.38%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0:3:4"/>
                      </a:ext>
                    </a:extLst>
                  </a:tcPr>
                </a:tc>
              </a:tr>
              <a:tr h="91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중등3실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0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조홍래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0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0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0: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7.41%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0:4:4"/>
                      </a:ext>
                    </a:extLst>
                  </a:tcPr>
                </a:tc>
              </a:tr>
              <a:tr h="91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고등1실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0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조홍래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0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0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0: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13.33%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0:5:4"/>
                      </a:ext>
                    </a:extLst>
                  </a:tcPr>
                </a:tc>
              </a:tr>
              <a:tr h="91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고등2실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0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이상준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0: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0: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0:6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6.06%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0:6:4"/>
                      </a:ext>
                    </a:extLst>
                  </a:tcPr>
                </a:tc>
              </a:tr>
              <a:tr h="91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고등3실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0: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이상준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0: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54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0: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0:7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11.11%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0:7:4"/>
                      </a:ext>
                    </a:extLst>
                  </a:tcPr>
                </a:tc>
              </a:tr>
              <a:tr h="91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/>
                        <a:t>B2B사업실</a:t>
                      </a:r>
                      <a:endParaRPr sz="2900" u="none" cap="none" strike="noStrike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0: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이상준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0:8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0:8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0:8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0:8:4"/>
                      </a:ext>
                    </a:extLst>
                  </a:tcPr>
                </a:tc>
              </a:tr>
              <a:tr h="91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/>
                        <a:t>주말팀</a:t>
                      </a:r>
                      <a:endParaRPr sz="2900" u="none" cap="none" strike="noStrike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0: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조홍래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0:9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0:9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0:9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9.09%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0:9:4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bb7a0e11e6_0_53"/>
          <p:cNvSpPr txBox="1"/>
          <p:nvPr/>
        </p:nvSpPr>
        <p:spPr>
          <a:xfrm>
            <a:off x="3771900" y="2425700"/>
            <a:ext cx="183897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33"/>
              <a:buFont typeface="Arial"/>
              <a:buNone/>
            </a:pPr>
            <a:r>
              <a:rPr b="1" i="0" lang="en-US" sz="4533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>수학 실별 신규전액환불률 (26년 2분기)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6" name="Google Shape;136;g3bb7a0e11e6_0_53"/>
          <p:cNvGraphicFramePr/>
          <p:nvPr/>
        </p:nvGraphicFramePr>
        <p:xfrm>
          <a:off x="3771875" y="3935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{C73B2DFF-F49C-45CD-A2D8-0BA848A6A658}</a:tableStyleId>
              </a:tblPr>
              <a:tblGrid>
                <a:gridCol w="3677925"/>
                <a:gridCol w="3677925"/>
                <a:gridCol w="3677925"/>
                <a:gridCol w="3677925"/>
                <a:gridCol w="3677925"/>
              </a:tblGrid>
              <a:tr h="91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부서</a:t>
                      </a:r>
                      <a:endParaRPr b="1" sz="2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36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실장</a:t>
                      </a:r>
                      <a:endParaRPr b="1" sz="2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36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</a:rPr>
                        <a:t>개강인원</a:t>
                      </a:r>
                      <a:endParaRPr b="1" sz="29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36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</a:rPr>
                        <a:t>신규전액환불</a:t>
                      </a:r>
                      <a:endParaRPr b="1" sz="29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36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</a:rPr>
                        <a:t>신규전액환불률</a:t>
                      </a:r>
                      <a:endParaRPr b="1" sz="29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36:0:4"/>
                      </a:ext>
                    </a:extLst>
                  </a:tcPr>
                </a:tc>
              </a:tr>
              <a:tr h="91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초등실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6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박재국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6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6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6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10.53%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6:1:4"/>
                      </a:ext>
                    </a:extLst>
                  </a:tcPr>
                </a:tc>
              </a:tr>
              <a:tr h="91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중등1실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6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박재국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6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6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6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6:2:4"/>
                      </a:ext>
                    </a:extLst>
                  </a:tcPr>
                </a:tc>
              </a:tr>
              <a:tr h="91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중등2실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6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박재국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6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6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6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15.38%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6:3:4"/>
                      </a:ext>
                    </a:extLst>
                  </a:tcPr>
                </a:tc>
              </a:tr>
              <a:tr h="91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중등3실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6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조홍래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6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6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6: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7.41%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6:4:4"/>
                      </a:ext>
                    </a:extLst>
                  </a:tcPr>
                </a:tc>
              </a:tr>
              <a:tr h="91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고등1실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6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조홍래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6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6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6: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13.33%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6:5:4"/>
                      </a:ext>
                    </a:extLst>
                  </a:tcPr>
                </a:tc>
              </a:tr>
              <a:tr h="91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고등2실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6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이상준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6: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6: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6:6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6.06%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6:6:4"/>
                      </a:ext>
                    </a:extLst>
                  </a:tcPr>
                </a:tc>
              </a:tr>
              <a:tr h="91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고등3실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6: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이상준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6: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54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6: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6:7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11.11%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6:7:4"/>
                      </a:ext>
                    </a:extLst>
                  </a:tcPr>
                </a:tc>
              </a:tr>
              <a:tr h="91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/>
                        <a:t>B2B사업실</a:t>
                      </a:r>
                      <a:endParaRPr sz="2900" u="none" cap="none" strike="noStrike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6: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이상준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6:8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6:8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6:8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6:8:4"/>
                      </a:ext>
                    </a:extLst>
                  </a:tcPr>
                </a:tc>
              </a:tr>
              <a:tr h="91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/>
                        <a:t>주말팀</a:t>
                      </a:r>
                      <a:endParaRPr sz="2900" u="none" cap="none" strike="noStrike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6: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조홍래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6:9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6:9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6:9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9.09%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36:9:4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b7a0e11e6_0_17"/>
          <p:cNvSpPr txBox="1"/>
          <p:nvPr/>
        </p:nvSpPr>
        <p:spPr>
          <a:xfrm>
            <a:off x="3771900" y="2425700"/>
            <a:ext cx="183897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33"/>
              <a:buFont typeface="Arial"/>
              <a:buNone/>
            </a:pPr>
            <a:r>
              <a:rPr b="1" i="0" lang="en-US" sz="4533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 xml:space="preserve">수학 팀별 재수강률 (26년 4월 </a:t>
            </a:r>
            <a:r>
              <a:rPr b="1" lang="en-US" sz="4533">
                <a:solidFill>
                  <a:srgbClr val="787878"/>
                </a:solidFill>
              </a:rPr>
              <a:t>2</a:t>
            </a:r>
            <a:r>
              <a:rPr b="1" i="0" lang="en-US" sz="4533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>주차)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2" name="Google Shape;142;g3bb7a0e11e6_0_17"/>
          <p:cNvGraphicFramePr/>
          <p:nvPr/>
        </p:nvGraphicFramePr>
        <p:xfrm>
          <a:off x="3855900" y="4019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{C73B2DFF-F49C-45CD-A2D8-0BA848A6A658}</a:tableStyleId>
              </a:tblPr>
              <a:tblGrid>
                <a:gridCol w="1721900"/>
                <a:gridCol w="2996075"/>
                <a:gridCol w="1980150"/>
                <a:gridCol w="1948600"/>
                <a:gridCol w="1948600"/>
                <a:gridCol w="1948600"/>
                <a:gridCol w="1948600"/>
                <a:gridCol w="1948600"/>
                <a:gridCol w="1948600"/>
              </a:tblGrid>
              <a:tr h="943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순위</a:t>
                      </a:r>
                      <a:endParaRPr b="1" sz="2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42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팀</a:t>
                      </a:r>
                      <a:endParaRPr b="1" sz="2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42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팀장</a:t>
                      </a:r>
                      <a:endParaRPr b="1" sz="2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42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도래자</a:t>
                      </a:r>
                      <a:endParaRPr b="1" sz="2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42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연장</a:t>
                      </a:r>
                      <a:endParaRPr b="1" sz="2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42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미연장</a:t>
                      </a:r>
                      <a:endParaRPr b="1" sz="2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42: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환불</a:t>
                      </a:r>
                      <a:endParaRPr b="1" sz="2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42:0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재수강률</a:t>
                      </a:r>
                      <a:endParaRPr b="1" sz="2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42:0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환불률</a:t>
                      </a:r>
                      <a:endParaRPr b="1" sz="2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42:0:8"/>
                      </a:ext>
                    </a:extLst>
                  </a:tcPr>
                </a:tc>
              </a:tr>
              <a:tr h="893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중등3A팀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조홍래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1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68.00%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1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16.00%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1:8"/>
                      </a:ext>
                    </a:extLst>
                  </a:tcPr>
                </a:tc>
              </a:tr>
              <a:tr h="893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B2B사업팀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이상준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2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2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65.22%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2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21.74%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2:8"/>
                      </a:ext>
                    </a:extLst>
                  </a:tcPr>
                </a:tc>
              </a:tr>
              <a:tr h="893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고등2A팀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이상준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54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3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3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64.81%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3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22.22%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3:8"/>
                      </a:ext>
                    </a:extLst>
                  </a:tcPr>
                </a:tc>
              </a:tr>
              <a:tr h="893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중등1A팀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박재국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4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4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4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61.29%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4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19.35%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4:8"/>
                      </a:ext>
                    </a:extLst>
                  </a:tcPr>
                </a:tc>
              </a:tr>
              <a:tr h="893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고등1A팀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조홍래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43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5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5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5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58.14%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5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27.91%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5:8"/>
                      </a:ext>
                    </a:extLst>
                  </a:tcPr>
                </a:tc>
              </a:tr>
              <a:tr h="893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중등2A팀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박재국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39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6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6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6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6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56.41%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6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23.08%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6:8"/>
                      </a:ext>
                    </a:extLst>
                  </a:tcPr>
                </a:tc>
              </a:tr>
              <a:tr h="893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초등팀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박재국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7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7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7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7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50.00%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7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33.33%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7:8"/>
                      </a:ext>
                    </a:extLst>
                  </a:tcPr>
                </a:tc>
              </a:tr>
              <a:tr h="893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고등3A팀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8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이상준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8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8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8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8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8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46.88%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8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25.00%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8:8"/>
                      </a:ext>
                    </a:extLst>
                  </a:tcPr>
                </a:tc>
              </a:tr>
              <a:tr h="893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비고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주말팀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9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조홍래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9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9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9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9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9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42.86%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9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28.57%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2:9:8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bb7a0e11e6_0_59"/>
          <p:cNvSpPr txBox="1"/>
          <p:nvPr/>
        </p:nvSpPr>
        <p:spPr>
          <a:xfrm>
            <a:off x="3771900" y="2425700"/>
            <a:ext cx="183897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33"/>
              <a:buFont typeface="Arial"/>
              <a:buNone/>
            </a:pPr>
            <a:r>
              <a:rPr b="1" i="0" lang="en-US" sz="4533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>수학 팀별 재수강률 (26년 4월)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8" name="Google Shape;148;g3bb7a0e11e6_0_59"/>
          <p:cNvGraphicFramePr/>
          <p:nvPr/>
        </p:nvGraphicFramePr>
        <p:xfrm>
          <a:off x="3855900" y="4019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{C73B2DFF-F49C-45CD-A2D8-0BA848A6A658}</a:tableStyleId>
              </a:tblPr>
              <a:tblGrid>
                <a:gridCol w="1721900"/>
                <a:gridCol w="2996075"/>
                <a:gridCol w="1980150"/>
                <a:gridCol w="1948600"/>
                <a:gridCol w="1948600"/>
                <a:gridCol w="1948600"/>
                <a:gridCol w="1948600"/>
                <a:gridCol w="1948600"/>
                <a:gridCol w="1948600"/>
              </a:tblGrid>
              <a:tr h="943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순위</a:t>
                      </a:r>
                      <a:endParaRPr b="1" sz="2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48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팀</a:t>
                      </a:r>
                      <a:endParaRPr b="1" sz="2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48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팀장</a:t>
                      </a:r>
                      <a:endParaRPr b="1" sz="2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48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도래자</a:t>
                      </a:r>
                      <a:endParaRPr b="1" sz="2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48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연장</a:t>
                      </a:r>
                      <a:endParaRPr b="1" sz="2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48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미연장</a:t>
                      </a:r>
                      <a:endParaRPr b="1" sz="2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48: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환불</a:t>
                      </a:r>
                      <a:endParaRPr b="1" sz="2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48:0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재수강률</a:t>
                      </a:r>
                      <a:endParaRPr b="1" sz="2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48:0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환불률</a:t>
                      </a:r>
                      <a:endParaRPr b="1" sz="2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48:0:8"/>
                      </a:ext>
                    </a:extLst>
                  </a:tcPr>
                </a:tc>
              </a:tr>
              <a:tr h="893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고등2A팀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이상준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106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1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69.81%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1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17.92%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1:8"/>
                      </a:ext>
                    </a:extLst>
                  </a:tcPr>
                </a:tc>
              </a:tr>
              <a:tr h="893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고등3A팀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이상준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106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2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2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69.81%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2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17.92%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2:8"/>
                      </a:ext>
                    </a:extLst>
                  </a:tcPr>
                </a:tc>
              </a:tr>
              <a:tr h="893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고등1A팀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조홍래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130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3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3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69.23%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3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16.15%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3:8"/>
                      </a:ext>
                    </a:extLst>
                  </a:tcPr>
                </a:tc>
              </a:tr>
              <a:tr h="893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B2B사업팀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이상준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53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4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4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4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66.04%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4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22.64%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4:8"/>
                      </a:ext>
                    </a:extLst>
                  </a:tcPr>
                </a:tc>
              </a:tr>
              <a:tr h="893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중등3A팀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조홍래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97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64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5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5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5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65.98%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5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15.46%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5:8"/>
                      </a:ext>
                    </a:extLst>
                  </a:tcPr>
                </a:tc>
              </a:tr>
              <a:tr h="893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중등1A팀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박재국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82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6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54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6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6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6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65.85%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6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20.73%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6:8"/>
                      </a:ext>
                    </a:extLst>
                  </a:tcPr>
                </a:tc>
              </a:tr>
              <a:tr h="893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중등2A팀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박재국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92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7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59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7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7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7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64.13%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7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22.83%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7:8"/>
                      </a:ext>
                    </a:extLst>
                  </a:tcPr>
                </a:tc>
              </a:tr>
              <a:tr h="893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초등팀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8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박재국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8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46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8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8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8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8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56.52%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8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32.61%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8:8"/>
                      </a:ext>
                    </a:extLst>
                  </a:tcPr>
                </a:tc>
              </a:tr>
              <a:tr h="893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비고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주말팀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9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조홍래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9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9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9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9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9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56.67%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9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20.00%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48:9:8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bb7a0e11e6_0_63"/>
          <p:cNvSpPr txBox="1"/>
          <p:nvPr/>
        </p:nvSpPr>
        <p:spPr>
          <a:xfrm>
            <a:off x="3771900" y="2425700"/>
            <a:ext cx="183897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33"/>
              <a:buFont typeface="Arial"/>
              <a:buNone/>
            </a:pPr>
            <a:r>
              <a:rPr b="1" i="0" lang="en-US" sz="4533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>수학 팀별 재수강률 (26년 2분기)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4" name="Google Shape;154;g3bb7a0e11e6_0_63"/>
          <p:cNvGraphicFramePr/>
          <p:nvPr/>
        </p:nvGraphicFramePr>
        <p:xfrm>
          <a:off x="3855900" y="4019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{C73B2DFF-F49C-45CD-A2D8-0BA848A6A658}</a:tableStyleId>
              </a:tblPr>
              <a:tblGrid>
                <a:gridCol w="1721900"/>
                <a:gridCol w="2996075"/>
                <a:gridCol w="1980150"/>
                <a:gridCol w="1948600"/>
                <a:gridCol w="1948600"/>
                <a:gridCol w="1948600"/>
                <a:gridCol w="1948600"/>
                <a:gridCol w="1948600"/>
                <a:gridCol w="1948600"/>
              </a:tblGrid>
              <a:tr h="943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순위</a:t>
                      </a:r>
                      <a:endParaRPr b="1" sz="2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54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팀</a:t>
                      </a:r>
                      <a:endParaRPr b="1" sz="2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54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팀장</a:t>
                      </a:r>
                      <a:endParaRPr b="1" sz="2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54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도래자</a:t>
                      </a:r>
                      <a:endParaRPr b="1" sz="2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54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연장</a:t>
                      </a:r>
                      <a:endParaRPr b="1" sz="2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54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미연장</a:t>
                      </a:r>
                      <a:endParaRPr b="1" sz="2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54: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환불</a:t>
                      </a:r>
                      <a:endParaRPr b="1" sz="2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54:0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재수강률</a:t>
                      </a:r>
                      <a:endParaRPr b="1" sz="2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54:0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환불률</a:t>
                      </a:r>
                      <a:endParaRPr b="1" sz="2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54:0:8"/>
                      </a:ext>
                    </a:extLst>
                  </a:tcPr>
                </a:tc>
              </a:tr>
              <a:tr h="893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고등2A팀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이상준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106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1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69.81%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1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17.92%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1:8"/>
                      </a:ext>
                    </a:extLst>
                  </a:tcPr>
                </a:tc>
              </a:tr>
              <a:tr h="893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고등3A팀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이상준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106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2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2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69.81%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2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17.92%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2:8"/>
                      </a:ext>
                    </a:extLst>
                  </a:tcPr>
                </a:tc>
              </a:tr>
              <a:tr h="893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고등1A팀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조홍래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130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3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3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69.23%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3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16.15%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3:8"/>
                      </a:ext>
                    </a:extLst>
                  </a:tcPr>
                </a:tc>
              </a:tr>
              <a:tr h="893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B2B사업팀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이상준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53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4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4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4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66.04%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4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22.64%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4:8"/>
                      </a:ext>
                    </a:extLst>
                  </a:tcPr>
                </a:tc>
              </a:tr>
              <a:tr h="893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중등3A팀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조홍래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97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64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5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5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5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65.98%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5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15.46%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5:8"/>
                      </a:ext>
                    </a:extLst>
                  </a:tcPr>
                </a:tc>
              </a:tr>
              <a:tr h="893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중등1A팀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박재국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82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6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54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6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6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6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65.85%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6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20.73%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6:8"/>
                      </a:ext>
                    </a:extLst>
                  </a:tcPr>
                </a:tc>
              </a:tr>
              <a:tr h="893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중등2A팀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박재국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92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7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59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7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7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7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64.13%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7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22.83%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7:8"/>
                      </a:ext>
                    </a:extLst>
                  </a:tcPr>
                </a:tc>
              </a:tr>
              <a:tr h="893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초등팀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8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박재국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8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46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8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8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8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8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56.52%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8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32.61%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8:8"/>
                      </a:ext>
                    </a:extLst>
                  </a:tcPr>
                </a:tc>
              </a:tr>
              <a:tr h="893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비고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주말팀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9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조홍래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9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9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9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9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9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56.67%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9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20.00%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4:9:8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bb7a0e11e6_0_68"/>
          <p:cNvSpPr txBox="1"/>
          <p:nvPr/>
        </p:nvSpPr>
        <p:spPr>
          <a:xfrm>
            <a:off x="3771900" y="2425700"/>
            <a:ext cx="183897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33"/>
              <a:buFont typeface="Arial"/>
              <a:buNone/>
            </a:pPr>
            <a:r>
              <a:rPr b="1" i="0" lang="en-US" sz="4533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 xml:space="preserve">수학 팀별 신규전액환불률 (26년 4월 </a:t>
            </a:r>
            <a:r>
              <a:rPr b="1" lang="en-US" sz="4533">
                <a:solidFill>
                  <a:srgbClr val="787878"/>
                </a:solidFill>
              </a:rPr>
              <a:t>2</a:t>
            </a:r>
            <a:r>
              <a:rPr b="1" i="0" lang="en-US" sz="4533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>주차)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0" name="Google Shape;160;g3bb7a0e11e6_0_68"/>
          <p:cNvGraphicFramePr/>
          <p:nvPr/>
        </p:nvGraphicFramePr>
        <p:xfrm>
          <a:off x="3771900" y="39027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{C73B2DFF-F49C-45CD-A2D8-0BA848A6A658}</a:tableStyleId>
              </a:tblPr>
              <a:tblGrid>
                <a:gridCol w="3064950"/>
                <a:gridCol w="3064950"/>
                <a:gridCol w="3064950"/>
                <a:gridCol w="3064950"/>
                <a:gridCol w="3064950"/>
                <a:gridCol w="3064950"/>
              </a:tblGrid>
              <a:tr h="896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순위</a:t>
                      </a:r>
                      <a:endParaRPr b="1" sz="2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60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팀</a:t>
                      </a:r>
                      <a:endParaRPr b="1" sz="2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60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팀장</a:t>
                      </a:r>
                      <a:endParaRPr b="1" sz="2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60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</a:rPr>
                        <a:t>개강인원</a:t>
                      </a:r>
                      <a:endParaRPr b="1" sz="29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60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</a:rPr>
                        <a:t>신규전액환불</a:t>
                      </a:r>
                      <a:endParaRPr b="1" sz="29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60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</a:rPr>
                        <a:t>신규전액환불률</a:t>
                      </a:r>
                      <a:endParaRPr b="1" sz="29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91425" marL="9142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60:0:5"/>
                      </a:ext>
                    </a:extLst>
                  </a:tcPr>
                </a:tc>
              </a:tr>
              <a:tr h="896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0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/>
                        <a:t>중등1A팀</a:t>
                      </a:r>
                      <a:endParaRPr sz="2900" u="none" cap="none" strike="noStrike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0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박재국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0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0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0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0:1:5"/>
                      </a:ext>
                    </a:extLst>
                  </a:tcPr>
                </a:tc>
              </a:tr>
              <a:tr h="896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0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B2B사업팀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0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이상준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0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0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0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0:2:5"/>
                      </a:ext>
                    </a:extLst>
                  </a:tcPr>
                </a:tc>
              </a:tr>
              <a:tr h="896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0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중등3A팀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0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조홍래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0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0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0: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5.56%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0:3:5"/>
                      </a:ext>
                    </a:extLst>
                  </a:tcPr>
                </a:tc>
              </a:tr>
              <a:tr h="896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0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고등2A팀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0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이상준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0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0: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0:4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9.09%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0:4:5"/>
                      </a:ext>
                    </a:extLst>
                  </a:tcPr>
                </a:tc>
              </a:tr>
              <a:tr h="896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76200" marL="762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0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00"/>
                        <a:t>초등팀</a:t>
                      </a:r>
                      <a:endParaRPr sz="2900"/>
                    </a:p>
                  </a:txBody>
                  <a:tcPr marT="19050" marB="19050" marR="76200" marL="762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0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박재국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76200" marL="7620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0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2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76200" marL="7620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0: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76200" marL="762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0:5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11.11%</a:t>
                      </a:r>
                      <a:endParaRPr sz="2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76200" marL="762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0:5:5"/>
                      </a:ext>
                    </a:extLst>
                  </a:tcPr>
                </a:tc>
              </a:tr>
              <a:tr h="896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76200" marL="762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160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고등1A팀</a:t>
                      </a:r>
                      <a:endParaRPr sz="2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76200" marL="762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0: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조홍래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76200" marL="7620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0: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</a:t>
                      </a:r>
                      <a:endParaRPr sz="2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76200" marL="7620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0:6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76200" marL="762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0:6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12.50%</a:t>
                      </a:r>
                      <a:endParaRPr sz="2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76200" marL="762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0:6:5"/>
                      </a:ext>
                    </a:extLst>
                  </a:tcPr>
                </a:tc>
              </a:tr>
              <a:tr h="896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76200" marL="762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160: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고등3A팀</a:t>
                      </a:r>
                      <a:endParaRPr sz="2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76200" marL="762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0: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이상준</a:t>
                      </a:r>
                      <a:endParaRPr sz="2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76200" marL="7620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0: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</a:t>
                      </a:r>
                      <a:endParaRPr sz="2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76200" marL="7620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0:7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2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76200" marL="762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0:7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14.81%</a:t>
                      </a:r>
                      <a:endParaRPr sz="2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76200" marL="762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0:7:5"/>
                      </a:ext>
                    </a:extLst>
                  </a:tcPr>
                </a:tc>
              </a:tr>
              <a:tr h="896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76200" marL="762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160: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중등2A팀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76200" marL="762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0:8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박재국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76200" marL="7620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0:8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76200" marL="7620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0:8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76200" marL="762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0:8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15.38%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76200" marL="762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0:8:5"/>
                      </a:ext>
                    </a:extLst>
                  </a:tcPr>
                </a:tc>
              </a:tr>
              <a:tr h="896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비고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0: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주말팀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0:9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조홍래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0:9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0:9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0:9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0:9:5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bb7a0e11e6_0_72"/>
          <p:cNvSpPr txBox="1"/>
          <p:nvPr/>
        </p:nvSpPr>
        <p:spPr>
          <a:xfrm>
            <a:off x="3771900" y="2425700"/>
            <a:ext cx="183897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33"/>
              <a:buFont typeface="Arial"/>
              <a:buNone/>
            </a:pPr>
            <a:r>
              <a:rPr b="1" i="0" lang="en-US" sz="4533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>수학 팀별 신규전액환불률 (26년 4월)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6" name="Google Shape;166;g3bb7a0e11e6_0_72"/>
          <p:cNvGraphicFramePr/>
          <p:nvPr/>
        </p:nvGraphicFramePr>
        <p:xfrm>
          <a:off x="3771900" y="39027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{C73B2DFF-F49C-45CD-A2D8-0BA848A6A658}</a:tableStyleId>
              </a:tblPr>
              <a:tblGrid>
                <a:gridCol w="3064950"/>
                <a:gridCol w="3064950"/>
                <a:gridCol w="3064950"/>
                <a:gridCol w="3064950"/>
                <a:gridCol w="3064950"/>
                <a:gridCol w="3064950"/>
              </a:tblGrid>
              <a:tr h="896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순위</a:t>
                      </a:r>
                      <a:endParaRPr b="1" sz="2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66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팀</a:t>
                      </a:r>
                      <a:endParaRPr b="1" sz="2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66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팀장</a:t>
                      </a:r>
                      <a:endParaRPr b="1" sz="2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66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</a:rPr>
                        <a:t>개강인원</a:t>
                      </a:r>
                      <a:endParaRPr b="1" sz="29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66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</a:rPr>
                        <a:t>신규전액환불</a:t>
                      </a:r>
                      <a:endParaRPr b="1" sz="29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66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</a:rPr>
                        <a:t>신규전액환불률</a:t>
                      </a:r>
                      <a:endParaRPr b="1" sz="29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91425" marL="9142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66:0:5"/>
                      </a:ext>
                    </a:extLst>
                  </a:tcPr>
                </a:tc>
              </a:tr>
              <a:tr h="896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6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/>
                        <a:t>중등1A팀</a:t>
                      </a:r>
                      <a:endParaRPr sz="2900" u="none" cap="none" strike="noStrike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6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박재국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6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6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6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6:1:5"/>
                      </a:ext>
                    </a:extLst>
                  </a:tcPr>
                </a:tc>
              </a:tr>
              <a:tr h="896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6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B2B사업팀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6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이상준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6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6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6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6:2:5"/>
                      </a:ext>
                    </a:extLst>
                  </a:tcPr>
                </a:tc>
              </a:tr>
              <a:tr h="896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6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고등2A팀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6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이상준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6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6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6: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6.06%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6:3:5"/>
                      </a:ext>
                    </a:extLst>
                  </a:tcPr>
                </a:tc>
              </a:tr>
              <a:tr h="896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76200" marL="762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166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중등3A팀</a:t>
                      </a:r>
                      <a:endParaRPr sz="2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76200" marL="762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6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조홍래</a:t>
                      </a:r>
                      <a:endParaRPr sz="2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76200" marL="7620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6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76200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6: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762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6:4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7.41%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762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6:4:5"/>
                      </a:ext>
                    </a:extLst>
                  </a:tcPr>
                </a:tc>
              </a:tr>
              <a:tr h="896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6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초등팀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6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박재국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6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6: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6:5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10.53%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6:5:5"/>
                      </a:ext>
                    </a:extLst>
                  </a:tcPr>
                </a:tc>
              </a:tr>
              <a:tr h="896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6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고등3A팀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6: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이상준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6: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54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6:6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6:6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11.11%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6:6:5"/>
                      </a:ext>
                    </a:extLst>
                  </a:tcPr>
                </a:tc>
              </a:tr>
              <a:tr h="896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6: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고등1A팀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6: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조홍래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6: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6:7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6:7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13.33%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6:7:5"/>
                      </a:ext>
                    </a:extLst>
                  </a:tcPr>
                </a:tc>
              </a:tr>
              <a:tr h="896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6: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중등2A팀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6:8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박재국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6:8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6:8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6:8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15.38%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6:8:5"/>
                      </a:ext>
                    </a:extLst>
                  </a:tcPr>
                </a:tc>
              </a:tr>
              <a:tr h="896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/>
                        <a:t>비고</a:t>
                      </a:r>
                      <a:endParaRPr sz="2900" u="none" cap="none" strike="noStrike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6: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/>
                        <a:t>주말팀</a:t>
                      </a:r>
                      <a:endParaRPr sz="2900" u="none" cap="none" strike="noStrike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6:9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조홍래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6:9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6:9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6:9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9.09%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66:9:5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bb7a0e11e6_0_76"/>
          <p:cNvSpPr txBox="1"/>
          <p:nvPr/>
        </p:nvSpPr>
        <p:spPr>
          <a:xfrm>
            <a:off x="3771900" y="2425700"/>
            <a:ext cx="183897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33"/>
              <a:buFont typeface="Arial"/>
              <a:buNone/>
            </a:pPr>
            <a:r>
              <a:rPr b="1" i="0" lang="en-US" sz="4533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>수학 팀별 신규전액환불률 (26년 2분기)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2" name="Google Shape;172;g3bb7a0e11e6_0_76"/>
          <p:cNvGraphicFramePr/>
          <p:nvPr/>
        </p:nvGraphicFramePr>
        <p:xfrm>
          <a:off x="3771900" y="39027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{C73B2DFF-F49C-45CD-A2D8-0BA848A6A658}</a:tableStyleId>
              </a:tblPr>
              <a:tblGrid>
                <a:gridCol w="3064950"/>
                <a:gridCol w="3064950"/>
                <a:gridCol w="3064950"/>
                <a:gridCol w="3064950"/>
                <a:gridCol w="3064950"/>
                <a:gridCol w="3064950"/>
              </a:tblGrid>
              <a:tr h="896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순위</a:t>
                      </a:r>
                      <a:endParaRPr b="1" sz="2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72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팀</a:t>
                      </a:r>
                      <a:endParaRPr b="1" sz="2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72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팀장</a:t>
                      </a:r>
                      <a:endParaRPr b="1" sz="2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72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</a:rPr>
                        <a:t>개강인원</a:t>
                      </a:r>
                      <a:endParaRPr b="1" sz="29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72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</a:rPr>
                        <a:t>신규전액환불</a:t>
                      </a:r>
                      <a:endParaRPr b="1" sz="29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72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FFFFFF"/>
                          </a:solidFill>
                        </a:rPr>
                        <a:t>신규전액환불률</a:t>
                      </a:r>
                      <a:endParaRPr b="1" sz="29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91425" marL="9142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72:0:5"/>
                      </a:ext>
                    </a:extLst>
                  </a:tcPr>
                </a:tc>
              </a:tr>
              <a:tr h="896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2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/>
                        <a:t>중등1A팀</a:t>
                      </a:r>
                      <a:endParaRPr sz="2900" u="none" cap="none" strike="noStrike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72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박재국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2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72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72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72:1:5"/>
                      </a:ext>
                    </a:extLst>
                  </a:tcPr>
                </a:tc>
              </a:tr>
              <a:tr h="896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2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B2B사업팀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72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이상준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2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72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72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72:2:5"/>
                      </a:ext>
                    </a:extLst>
                  </a:tcPr>
                </a:tc>
              </a:tr>
              <a:tr h="896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2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고등2A팀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72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이상준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2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72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72: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6.06%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72:3:5"/>
                      </a:ext>
                    </a:extLst>
                  </a:tcPr>
                </a:tc>
              </a:tr>
              <a:tr h="896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2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중등3A팀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72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조홍래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2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72: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72:4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7.41%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72:4:5"/>
                      </a:ext>
                    </a:extLst>
                  </a:tcPr>
                </a:tc>
              </a:tr>
              <a:tr h="896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2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초등팀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72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박재국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2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72: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72:5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10.53%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72:5:5"/>
                      </a:ext>
                    </a:extLst>
                  </a:tcPr>
                </a:tc>
              </a:tr>
              <a:tr h="896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2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고등3A팀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72: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이상준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2: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54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72:6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72:6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11.11%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72:6:5"/>
                      </a:ext>
                    </a:extLst>
                  </a:tcPr>
                </a:tc>
              </a:tr>
              <a:tr h="896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2: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고등1A팀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72: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조홍래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2: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72:7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72:7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13.33%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72:7:5"/>
                      </a:ext>
                    </a:extLst>
                  </a:tcPr>
                </a:tc>
              </a:tr>
              <a:tr h="896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2: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중등2A팀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72:8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박재국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2:8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72:8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72:8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15.38%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72:8:5"/>
                      </a:ext>
                    </a:extLst>
                  </a:tcPr>
                </a:tc>
              </a:tr>
              <a:tr h="896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/>
                        <a:t>비고</a:t>
                      </a:r>
                      <a:endParaRPr sz="2900" u="none" cap="none" strike="noStrike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72: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/>
                        <a:t>주말팀</a:t>
                      </a:r>
                      <a:endParaRPr sz="2900" u="none" cap="none" strike="noStrike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72:9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조홍래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2:9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72:9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72:9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9.09%</a:t>
                      </a:r>
                      <a:endParaRPr sz="2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72:9:5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bb7a0e11e6_0_20"/>
          <p:cNvSpPr txBox="1"/>
          <p:nvPr/>
        </p:nvSpPr>
        <p:spPr>
          <a:xfrm>
            <a:off x="3771900" y="2425700"/>
            <a:ext cx="183897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33"/>
              <a:buFont typeface="Arial"/>
              <a:buNone/>
            </a:pPr>
            <a:r>
              <a:rPr b="1" i="0" lang="en-US" sz="4533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>팀원별 재수강률 (26년 2분기 누적)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8" name="Google Shape;178;g3bb7a0e11e6_0_20"/>
          <p:cNvGraphicFramePr/>
          <p:nvPr/>
        </p:nvGraphicFramePr>
        <p:xfrm>
          <a:off x="3771975" y="3698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{C73B2DFF-F49C-45CD-A2D8-0BA848A6A658}</a:tableStyleId>
              </a:tblPr>
              <a:tblGrid>
                <a:gridCol w="1264250"/>
                <a:gridCol w="1264250"/>
                <a:gridCol w="1264250"/>
                <a:gridCol w="1264250"/>
                <a:gridCol w="1264250"/>
                <a:gridCol w="1264250"/>
                <a:gridCol w="1264250"/>
              </a:tblGrid>
              <a:tr h="604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순위</a:t>
                      </a:r>
                      <a:endParaRPr b="1" sz="2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78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사원</a:t>
                      </a:r>
                      <a:endParaRPr b="1" sz="2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78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도래자</a:t>
                      </a:r>
                      <a:endParaRPr b="1" sz="2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78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연장</a:t>
                      </a:r>
                      <a:endParaRPr b="1" sz="2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78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미연장</a:t>
                      </a:r>
                      <a:endParaRPr b="1" sz="2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78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환불</a:t>
                      </a:r>
                      <a:endParaRPr b="1" sz="2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78: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재수강률</a:t>
                      </a:r>
                      <a:endParaRPr b="1" sz="2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91425" marL="9142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78:0:6"/>
                      </a:ext>
                    </a:extLst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28575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이훈창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100.00%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:6"/>
                      </a:ext>
                    </a:extLst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28575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안건휘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2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100.00%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2:6"/>
                      </a:ext>
                    </a:extLst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28575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김예지B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3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92.86%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3:6"/>
                      </a:ext>
                    </a:extLst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28575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이준용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4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4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88.00%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4:6"/>
                      </a:ext>
                    </a:extLst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28575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정성욱B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5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5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85.71%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5:6"/>
                      </a:ext>
                    </a:extLst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28575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이창세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6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6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6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83.33%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6:6"/>
                      </a:ext>
                    </a:extLst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28575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이용호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7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7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7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83.33%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7:6"/>
                      </a:ext>
                    </a:extLst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28575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이슬비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8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8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8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8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8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83.33%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8:6"/>
                      </a:ext>
                    </a:extLst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28575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이민용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9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9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9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9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9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80.00%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9:6"/>
                      </a:ext>
                    </a:extLst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28575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김민철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80.00%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0:6"/>
                      </a:ext>
                    </a:extLst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28575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노경무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78.57%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1:6"/>
                      </a:ext>
                    </a:extLst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28575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김윤지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2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77.78%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2:6"/>
                      </a:ext>
                    </a:extLst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28575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노승협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3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76.19%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3:6"/>
                      </a:ext>
                    </a:extLst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28575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손성재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4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4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76.19%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4:6"/>
                      </a:ext>
                    </a:extLst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28575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김동혁B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5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5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75.00%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5:6"/>
                      </a:ext>
                    </a:extLst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28575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강민정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6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6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6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75.00%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6:6"/>
                      </a:ext>
                    </a:extLst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28575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조하영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7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7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7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70.00%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7:6"/>
                      </a:ext>
                    </a:extLst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28575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박수민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8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8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8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8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8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70.00%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8:6"/>
                      </a:ext>
                    </a:extLst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28575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김희철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9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9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9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9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9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68.75%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8:19:6"/>
                      </a:ext>
                    </a:extLst>
                  </a:tcPr>
                </a:tc>
              </a:tr>
            </a:tbl>
          </a:graphicData>
        </a:graphic>
      </p:graphicFrame>
      <p:graphicFrame>
        <p:nvGraphicFramePr>
          <p:cNvPr id="179" name="Google Shape;179;g3bb7a0e11e6_0_20"/>
          <p:cNvGraphicFramePr/>
          <p:nvPr/>
        </p:nvGraphicFramePr>
        <p:xfrm>
          <a:off x="13311850" y="3698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{C73B2DFF-F49C-45CD-A2D8-0BA848A6A658}</a:tableStyleId>
              </a:tblPr>
              <a:tblGrid>
                <a:gridCol w="1264250"/>
                <a:gridCol w="1264250"/>
                <a:gridCol w="1264250"/>
                <a:gridCol w="1264250"/>
                <a:gridCol w="1264250"/>
                <a:gridCol w="1264250"/>
                <a:gridCol w="1264250"/>
              </a:tblGrid>
              <a:tr h="604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순위</a:t>
                      </a:r>
                      <a:endParaRPr b="1" sz="2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79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사원</a:t>
                      </a:r>
                      <a:endParaRPr b="1" sz="2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79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도래자</a:t>
                      </a:r>
                      <a:endParaRPr b="1" sz="2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79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연장</a:t>
                      </a:r>
                      <a:endParaRPr b="1" sz="2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79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미연장</a:t>
                      </a:r>
                      <a:endParaRPr b="1" sz="2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79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환불</a:t>
                      </a:r>
                      <a:endParaRPr b="1" sz="2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79: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재수강률</a:t>
                      </a:r>
                      <a:endParaRPr b="1" sz="2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91425" marL="9142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79:0:6"/>
                      </a:ext>
                    </a:extLst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28575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김선만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66.67%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:6"/>
                      </a:ext>
                    </a:extLst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28575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정성윤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2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66.67%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2:6"/>
                      </a:ext>
                    </a:extLst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28575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서은수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3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66.67%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3:6"/>
                      </a:ext>
                    </a:extLst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28575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윤재오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4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4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65.00%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4:6"/>
                      </a:ext>
                    </a:extLst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28575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김주은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5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5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64.71%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5:6"/>
                      </a:ext>
                    </a:extLst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28575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김승연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6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6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6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64.29%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6:6"/>
                      </a:ext>
                    </a:extLst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28575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권도연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7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7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7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64.29%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7:6"/>
                      </a:ext>
                    </a:extLst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28575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손민정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8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8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8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8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8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63.64%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8:6"/>
                      </a:ext>
                    </a:extLst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28575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김유정B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9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9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9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9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9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63.64%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9:6"/>
                      </a:ext>
                    </a:extLst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28575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김지영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61.54%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0:6"/>
                      </a:ext>
                    </a:extLst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28575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정태연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61.11%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1:6"/>
                      </a:ext>
                    </a:extLst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28575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최진주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2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60.00%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2:6"/>
                      </a:ext>
                    </a:extLst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28575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유윤상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3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60.00%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3:6"/>
                      </a:ext>
                    </a:extLst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28575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이정훈B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4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4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58.82%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4:6"/>
                      </a:ext>
                    </a:extLst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28575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김상록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5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5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57.89%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5:6"/>
                      </a:ext>
                    </a:extLst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28575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한유빈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6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6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6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57.69%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6:6"/>
                      </a:ext>
                    </a:extLst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36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28575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허유나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7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7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7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56.25%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7:6"/>
                      </a:ext>
                    </a:extLst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36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28575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진성운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8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8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8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8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8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56.25%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8:6"/>
                      </a:ext>
                    </a:extLst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38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28575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최승원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9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9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9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9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9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54.55%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9:19:6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bb7a0e11e6_0_81"/>
          <p:cNvSpPr txBox="1"/>
          <p:nvPr/>
        </p:nvSpPr>
        <p:spPr>
          <a:xfrm>
            <a:off x="3771900" y="2425700"/>
            <a:ext cx="183897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33"/>
              <a:buFont typeface="Arial"/>
              <a:buNone/>
            </a:pPr>
            <a:r>
              <a:rPr b="1" i="0" lang="en-US" sz="4533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>팀원별 재수강률 (26년 2분기 누적)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5" name="Google Shape;185;g3bb7a0e11e6_0_81"/>
          <p:cNvGraphicFramePr/>
          <p:nvPr/>
        </p:nvGraphicFramePr>
        <p:xfrm>
          <a:off x="3771975" y="3698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{C73B2DFF-F49C-45CD-A2D8-0BA848A6A658}</a:tableStyleId>
              </a:tblPr>
              <a:tblGrid>
                <a:gridCol w="1264250"/>
                <a:gridCol w="1264250"/>
                <a:gridCol w="1264250"/>
                <a:gridCol w="1264250"/>
                <a:gridCol w="1264250"/>
                <a:gridCol w="1264250"/>
                <a:gridCol w="1264250"/>
              </a:tblGrid>
              <a:tr h="604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순위</a:t>
                      </a:r>
                      <a:endParaRPr b="1" sz="2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85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사원</a:t>
                      </a:r>
                      <a:endParaRPr b="1" sz="2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85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도래자</a:t>
                      </a:r>
                      <a:endParaRPr b="1" sz="2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85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연장</a:t>
                      </a:r>
                      <a:endParaRPr b="1" sz="2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85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미연장</a:t>
                      </a:r>
                      <a:endParaRPr b="1" sz="2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85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환불</a:t>
                      </a:r>
                      <a:endParaRPr b="1" sz="2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85: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재수강률</a:t>
                      </a:r>
                      <a:endParaRPr b="1" sz="2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91425" marL="9142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85:0:6"/>
                      </a:ext>
                    </a:extLst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38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28575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김지혜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54.55%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:6"/>
                      </a:ext>
                    </a:extLst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</a:t>
                      </a:r>
                      <a:endParaRPr sz="2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정희승</a:t>
                      </a:r>
                      <a:endParaRPr sz="2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2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2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2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2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53.33%</a:t>
                      </a:r>
                      <a:endParaRPr sz="2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2:6"/>
                      </a:ext>
                    </a:extLst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41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28575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위민수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3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50.00%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3:6"/>
                      </a:ext>
                    </a:extLst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42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28575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정소영A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4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4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47.06%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4:6"/>
                      </a:ext>
                    </a:extLst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43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28575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김경수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5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5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40.00%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5:6"/>
                      </a:ext>
                    </a:extLst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비고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28575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홍가영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6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6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6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6:6"/>
                      </a:ext>
                    </a:extLst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비고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28575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오채랑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7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7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7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7:6"/>
                      </a:ext>
                    </a:extLst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28575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8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8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8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8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8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8:6"/>
                      </a:ext>
                    </a:extLst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28575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9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9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9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9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9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9:6"/>
                      </a:ext>
                    </a:extLst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28575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0:6"/>
                      </a:ext>
                    </a:extLst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28575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1:6"/>
                      </a:ext>
                    </a:extLst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28575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2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2:6"/>
                      </a:ext>
                    </a:extLst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3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3:6"/>
                      </a:ext>
                    </a:extLst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28575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4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4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4:6"/>
                      </a:ext>
                    </a:extLst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28575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5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5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5:6"/>
                      </a:ext>
                    </a:extLst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28575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6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6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6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6:6"/>
                      </a:ext>
                    </a:extLst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28575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7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7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7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7:6"/>
                      </a:ext>
                    </a:extLst>
                  </a:tcPr>
                </a:tc>
              </a:tr>
              <a:tr h="4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28575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8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8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8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8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8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8:6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28575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9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9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9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9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9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118850" marL="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9:6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bb7a0e11e6_0_84"/>
          <p:cNvSpPr txBox="1"/>
          <p:nvPr/>
        </p:nvSpPr>
        <p:spPr>
          <a:xfrm>
            <a:off x="3771900" y="2425700"/>
            <a:ext cx="183897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33"/>
              <a:buFont typeface="Arial"/>
              <a:buNone/>
            </a:pPr>
            <a:r>
              <a:rPr b="1" i="0" lang="en-US" sz="4533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>팀원별 매출액 (26년 4월 누적)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91" name="Google Shape;191;g3bb7a0e11e6_0_84"/>
          <p:cNvGraphicFramePr/>
          <p:nvPr/>
        </p:nvGraphicFramePr>
        <p:xfrm>
          <a:off x="3792100" y="3708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{C73B2DFF-F49C-45CD-A2D8-0BA848A6A658}</a:tableStyleId>
              </a:tblPr>
              <a:tblGrid>
                <a:gridCol w="1199450"/>
                <a:gridCol w="1535675"/>
                <a:gridCol w="1535675"/>
                <a:gridCol w="1535675"/>
              </a:tblGrid>
              <a:tr h="499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순위</a:t>
                      </a:r>
                      <a:endParaRPr b="1" sz="1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1C6DE"/>
                    </a:solidFill>
                    <a:extLst>
                      <a:ext uri="http://customooxmlschemas.google.com/">
                        <go:slidesCustomData xmlns:go="http://customooxmlschemas.google.com/" cellId="191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부서</a:t>
                      </a:r>
                      <a:endParaRPr b="1" sz="1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1C6DE"/>
                    </a:solidFill>
                    <a:extLst>
                      <a:ext uri="http://customooxmlschemas.google.com/">
                        <go:slidesCustomData xmlns:go="http://customooxmlschemas.google.com/" cellId="191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사원</a:t>
                      </a:r>
                      <a:endParaRPr b="1" sz="1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1C6DE"/>
                    </a:solidFill>
                    <a:extLst>
                      <a:ext uri="http://customooxmlschemas.google.com/">
                        <go:slidesCustomData xmlns:go="http://customooxmlschemas.google.com/" cellId="191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매출액</a:t>
                      </a:r>
                      <a:endParaRPr b="1" sz="1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1C6DE"/>
                    </a:solidFill>
                    <a:extLst>
                      <a:ext uri="http://customooxmlschemas.google.com/">
                        <go:slidesCustomData xmlns:go="http://customooxmlschemas.google.com/" cellId="191:0:3"/>
                      </a:ext>
                    </a:extLst>
                  </a:tcPr>
                </a:tc>
              </a:tr>
              <a:tr h="499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1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9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1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1:1:3"/>
                      </a:ext>
                    </a:extLst>
                  </a:tcPr>
                </a:tc>
              </a:tr>
              <a:tr h="499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2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91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1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1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1:2:3"/>
                      </a:ext>
                    </a:extLst>
                  </a:tcPr>
                </a:tc>
              </a:tr>
              <a:tr h="499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3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91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1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1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1:3:3"/>
                      </a:ext>
                    </a:extLst>
                  </a:tcPr>
                </a:tc>
              </a:tr>
              <a:tr h="499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4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91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1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1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1:4:3"/>
                      </a:ext>
                    </a:extLst>
                  </a:tcPr>
                </a:tc>
              </a:tr>
              <a:tr h="499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5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91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1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1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1:5:3"/>
                      </a:ext>
                    </a:extLst>
                  </a:tcPr>
                </a:tc>
              </a:tr>
              <a:tr h="499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6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91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1: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1: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1:6:3"/>
                      </a:ext>
                    </a:extLst>
                  </a:tcPr>
                </a:tc>
              </a:tr>
              <a:tr h="499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7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91: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1: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1: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1:7:3"/>
                      </a:ext>
                    </a:extLst>
                  </a:tcPr>
                </a:tc>
              </a:tr>
              <a:tr h="499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8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91: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1:8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1:8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1:8:3"/>
                      </a:ext>
                    </a:extLst>
                  </a:tcPr>
                </a:tc>
              </a:tr>
              <a:tr h="499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9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191: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191:9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191:9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191:9:3"/>
                      </a:ext>
                    </a:extLst>
                  </a:tcPr>
                </a:tc>
              </a:tr>
              <a:tr h="499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10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191:1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191:1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191:1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191:10:3"/>
                      </a:ext>
                    </a:extLst>
                  </a:tcPr>
                </a:tc>
              </a:tr>
              <a:tr h="499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11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191:1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191:1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191:1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191:11:3"/>
                      </a:ext>
                    </a:extLst>
                  </a:tcPr>
                </a:tc>
              </a:tr>
              <a:tr h="499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191:1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191:1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/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191:1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191:12:3"/>
                      </a:ext>
                    </a:extLst>
                  </a:tcPr>
                </a:tc>
              </a:tr>
              <a:tr h="499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191:1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/>
                        <a:t/>
                      </a:r>
                      <a:endParaRPr sz="19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191:1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/>
                        <a:t/>
                      </a:r>
                      <a:endParaRPr sz="19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191:1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191:13:3"/>
                      </a:ext>
                    </a:extLst>
                  </a:tcPr>
                </a:tc>
              </a:tr>
              <a:tr h="499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191:1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/>
                        <a:t/>
                      </a:r>
                      <a:endParaRPr sz="19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191:1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/>
                        <a:t/>
                      </a:r>
                      <a:endParaRPr sz="19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191:1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191:14:3"/>
                      </a:ext>
                    </a:extLst>
                  </a:tcPr>
                </a:tc>
              </a:tr>
              <a:tr h="499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191:1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191:1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/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191:1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191:15:3"/>
                      </a:ext>
                    </a:extLst>
                  </a:tcPr>
                </a:tc>
              </a:tr>
              <a:tr h="499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191:1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/>
                      </a:r>
                      <a:endParaRPr sz="19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191:1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/>
                        <a:t/>
                      </a:r>
                      <a:endParaRPr sz="19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191:1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191:16:3"/>
                      </a:ext>
                    </a:extLst>
                  </a:tcPr>
                </a:tc>
              </a:tr>
              <a:tr h="499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</a:t>
                      </a:r>
                      <a:endParaRPr sz="1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91:1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91:1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/>
                      </a:r>
                      <a:endParaRPr sz="1800" u="none" cap="none" strike="noStrike"/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91:1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91:17:3"/>
                      </a:ext>
                    </a:extLst>
                  </a:tcPr>
                </a:tc>
              </a:tr>
              <a:tr h="499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191:1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/>
                      </a:r>
                      <a:endParaRPr sz="1900" u="none" cap="none" strike="noStrike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191:18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/>
                      </a:r>
                      <a:endParaRPr sz="1900" u="none" cap="none" strike="noStrike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191:18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191:18:3"/>
                      </a:ext>
                    </a:extLst>
                  </a:tcPr>
                </a:tc>
              </a:tr>
            </a:tbl>
          </a:graphicData>
        </a:graphic>
      </p:graphicFrame>
      <p:graphicFrame>
        <p:nvGraphicFramePr>
          <p:cNvPr id="192" name="Google Shape;192;g3bb7a0e11e6_0_84"/>
          <p:cNvGraphicFramePr/>
          <p:nvPr/>
        </p:nvGraphicFramePr>
        <p:xfrm>
          <a:off x="10063500" y="3708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{C73B2DFF-F49C-45CD-A2D8-0BA848A6A658}</a:tableStyleId>
              </a:tblPr>
              <a:tblGrid>
                <a:gridCol w="1199475"/>
                <a:gridCol w="1535675"/>
                <a:gridCol w="1535675"/>
                <a:gridCol w="1535675"/>
              </a:tblGrid>
              <a:tr h="499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순위</a:t>
                      </a:r>
                      <a:endParaRPr b="1" sz="1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1C6DE"/>
                    </a:solidFill>
                    <a:extLst>
                      <a:ext uri="http://customooxmlschemas.google.com/">
                        <go:slidesCustomData xmlns:go="http://customooxmlschemas.google.com/" cellId="192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부서</a:t>
                      </a:r>
                      <a:endParaRPr b="1" sz="1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1C6DE"/>
                    </a:solidFill>
                    <a:extLst>
                      <a:ext uri="http://customooxmlschemas.google.com/">
                        <go:slidesCustomData xmlns:go="http://customooxmlschemas.google.com/" cellId="192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사원</a:t>
                      </a:r>
                      <a:endParaRPr b="1" sz="1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1C6DE"/>
                    </a:solidFill>
                    <a:extLst>
                      <a:ext uri="http://customooxmlschemas.google.com/">
                        <go:slidesCustomData xmlns:go="http://customooxmlschemas.google.com/" cellId="192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매출액</a:t>
                      </a:r>
                      <a:endParaRPr b="1" sz="1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1C6DE"/>
                    </a:solidFill>
                    <a:extLst>
                      <a:ext uri="http://customooxmlschemas.google.com/">
                        <go:slidesCustomData xmlns:go="http://customooxmlschemas.google.com/" cellId="192:0:3"/>
                      </a:ext>
                    </a:extLst>
                  </a:tcPr>
                </a:tc>
              </a:tr>
              <a:tr h="499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19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2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2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2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2:1:3"/>
                      </a:ext>
                    </a:extLst>
                  </a:tcPr>
                </a:tc>
              </a:tr>
              <a:tr h="499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20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192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192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192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192:2:3"/>
                      </a:ext>
                    </a:extLst>
                  </a:tcPr>
                </a:tc>
              </a:tr>
              <a:tr h="499775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AIM-HIGH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  <a:extLst>
                      <a:ext uri="http://customooxmlschemas.google.com/">
                        <go:slidesCustomData xmlns:go="http://customooxmlschemas.google.com/" cellId="192:3:0"/>
                      </a:ext>
                    </a:extLst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192:3:3"/>
                      </a:ext>
                    </a:extLst>
                  </a:tcPr>
                </a:tc>
              </a:tr>
              <a:tr h="499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192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192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/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192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192:4:3"/>
                      </a:ext>
                    </a:extLst>
                  </a:tcPr>
                </a:tc>
              </a:tr>
              <a:tr h="499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/>
                        <a:t>22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192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/>
                      </a:r>
                      <a:endParaRPr sz="1900"/>
                    </a:p>
                  </a:txBody>
                  <a:tcPr marT="91425" marB="91425" marR="91425" marL="9142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192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/>
                      </a:r>
                      <a:endParaRPr sz="1900"/>
                    </a:p>
                  </a:txBody>
                  <a:tcPr marT="91425" marB="91425" marR="91425" marL="9142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192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192:5:3"/>
                      </a:ext>
                    </a:extLst>
                  </a:tcPr>
                </a:tc>
              </a:tr>
              <a:tr h="499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23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192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192: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192: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192:6:3"/>
                      </a:ext>
                    </a:extLst>
                  </a:tcPr>
                </a:tc>
              </a:tr>
              <a:tr h="499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24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192: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192: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192: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192:7:3"/>
                      </a:ext>
                    </a:extLst>
                  </a:tcPr>
                </a:tc>
              </a:tr>
              <a:tr h="499775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/>
                        <a:t>BM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  <a:extLst>
                      <a:ext uri="http://customooxmlschemas.google.com/">
                        <go:slidesCustomData xmlns:go="http://customooxmlschemas.google.com/" cellId="192:8:0"/>
                      </a:ext>
                    </a:extLst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192:8:3"/>
                      </a:ext>
                    </a:extLst>
                  </a:tcPr>
                </a:tc>
              </a:tr>
              <a:tr h="499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25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92: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2:9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2:9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2:9:3"/>
                      </a:ext>
                    </a:extLst>
                  </a:tcPr>
                </a:tc>
              </a:tr>
              <a:tr h="499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92:1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/>
                        <a:t/>
                      </a:r>
                      <a:endParaRPr sz="1900" u="none" cap="none" strike="noStrike"/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92:1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/>
                        <a:t/>
                      </a:r>
                      <a:endParaRPr sz="1900" u="none" cap="none" strike="noStrike"/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92:1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92:10:3"/>
                      </a:ext>
                    </a:extLst>
                  </a:tcPr>
                </a:tc>
              </a:tr>
              <a:tr h="499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27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92:1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2:1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2:1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2:11:3"/>
                      </a:ext>
                    </a:extLst>
                  </a:tcPr>
                </a:tc>
              </a:tr>
              <a:tr h="499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28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92:1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2:1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2:1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2:12:3"/>
                      </a:ext>
                    </a:extLst>
                  </a:tcPr>
                </a:tc>
              </a:tr>
              <a:tr h="499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29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92:1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2:1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2:1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2:13:3"/>
                      </a:ext>
                    </a:extLst>
                  </a:tcPr>
                </a:tc>
              </a:tr>
              <a:tr h="499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30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92:1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2:1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2:1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2:14:3"/>
                      </a:ext>
                    </a:extLst>
                  </a:tcPr>
                </a:tc>
              </a:tr>
              <a:tr h="499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31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92:1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2:1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2:1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2:15:3"/>
                      </a:ext>
                    </a:extLst>
                  </a:tcPr>
                </a:tc>
              </a:tr>
              <a:tr h="499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32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92:1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2:1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2:1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2:16:3"/>
                      </a:ext>
                    </a:extLst>
                  </a:tcPr>
                </a:tc>
              </a:tr>
              <a:tr h="499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33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92:1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2:1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2:1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2:17:3"/>
                      </a:ext>
                    </a:extLst>
                  </a:tcPr>
                </a:tc>
              </a:tr>
              <a:tr h="499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34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92:1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2:18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2:18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2:18:3"/>
                      </a:ext>
                    </a:extLst>
                  </a:tcPr>
                </a:tc>
              </a:tr>
            </a:tbl>
          </a:graphicData>
        </a:graphic>
      </p:graphicFrame>
      <p:graphicFrame>
        <p:nvGraphicFramePr>
          <p:cNvPr id="193" name="Google Shape;193;g3bb7a0e11e6_0_84"/>
          <p:cNvGraphicFramePr/>
          <p:nvPr/>
        </p:nvGraphicFramePr>
        <p:xfrm>
          <a:off x="16334925" y="3708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{C73B2DFF-F49C-45CD-A2D8-0BA848A6A658}</a:tableStyleId>
              </a:tblPr>
              <a:tblGrid>
                <a:gridCol w="1234450"/>
                <a:gridCol w="1580450"/>
                <a:gridCol w="1580450"/>
                <a:gridCol w="1580425"/>
              </a:tblGrid>
              <a:tr h="499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순위</a:t>
                      </a:r>
                      <a:endParaRPr b="1" sz="1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1C6DE"/>
                    </a:solidFill>
                    <a:extLst>
                      <a:ext uri="http://customooxmlschemas.google.com/">
                        <go:slidesCustomData xmlns:go="http://customooxmlschemas.google.com/" cellId="193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부서</a:t>
                      </a:r>
                      <a:endParaRPr b="1" sz="1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1C6DE"/>
                    </a:solidFill>
                    <a:extLst>
                      <a:ext uri="http://customooxmlschemas.google.com/">
                        <go:slidesCustomData xmlns:go="http://customooxmlschemas.google.com/" cellId="193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사원</a:t>
                      </a:r>
                      <a:endParaRPr b="1" sz="1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1C6DE"/>
                    </a:solidFill>
                    <a:extLst>
                      <a:ext uri="http://customooxmlschemas.google.com/">
                        <go:slidesCustomData xmlns:go="http://customooxmlschemas.google.com/" cellId="193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매출액</a:t>
                      </a:r>
                      <a:endParaRPr b="1" sz="19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1C6DE"/>
                    </a:solidFill>
                    <a:extLst>
                      <a:ext uri="http://customooxmlschemas.google.com/">
                        <go:slidesCustomData xmlns:go="http://customooxmlschemas.google.com/" cellId="193:0:3"/>
                      </a:ext>
                    </a:extLst>
                  </a:tcPr>
                </a:tc>
              </a:tr>
              <a:tr h="494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/>
                        <a:t>35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193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/>
                        <a:t/>
                      </a:r>
                      <a:endParaRPr sz="1900" u="none" cap="none" strike="noStrike"/>
                    </a:p>
                  </a:txBody>
                  <a:tcPr marT="0" marB="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193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/>
                        <a:t/>
                      </a:r>
                      <a:endParaRPr sz="1900" u="none" cap="none" strike="noStrike"/>
                    </a:p>
                  </a:txBody>
                  <a:tcPr marT="0" marB="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193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193:1:3"/>
                      </a:ext>
                    </a:extLst>
                  </a:tcPr>
                </a:tc>
              </a:tr>
              <a:tr h="494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36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93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3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3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3:2:3"/>
                      </a:ext>
                    </a:extLst>
                  </a:tcPr>
                </a:tc>
              </a:tr>
              <a:tr h="494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37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93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3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3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3:3:3"/>
                      </a:ext>
                    </a:extLst>
                  </a:tcPr>
                </a:tc>
              </a:tr>
              <a:tr h="494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38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93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3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3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3:4:3"/>
                      </a:ext>
                    </a:extLst>
                  </a:tcPr>
                </a:tc>
              </a:tr>
              <a:tr h="494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39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93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3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3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3:5:3"/>
                      </a:ext>
                    </a:extLst>
                  </a:tcPr>
                </a:tc>
              </a:tr>
              <a:tr h="494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40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93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3: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3: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3:6:3"/>
                      </a:ext>
                    </a:extLst>
                  </a:tcPr>
                </a:tc>
              </a:tr>
              <a:tr h="494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41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93: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3: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3: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3:7:3"/>
                      </a:ext>
                    </a:extLst>
                  </a:tcPr>
                </a:tc>
              </a:tr>
              <a:tr h="539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42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93: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3:8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3:8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3:8:3"/>
                      </a:ext>
                    </a:extLst>
                  </a:tcPr>
                </a:tc>
              </a:tr>
              <a:tr h="494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43</a:t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93: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3:9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3:9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3:9:3"/>
                      </a:ext>
                    </a:extLst>
                  </a:tcPr>
                </a:tc>
              </a:tr>
              <a:tr h="494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93:1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3:1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3:1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3:10:3"/>
                      </a:ext>
                    </a:extLst>
                  </a:tcPr>
                </a:tc>
              </a:tr>
              <a:tr h="494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93:1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3:1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3:1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3:11:3"/>
                      </a:ext>
                    </a:extLst>
                  </a:tcPr>
                </a:tc>
              </a:tr>
              <a:tr h="494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93:1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3:1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3:1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3:12:3"/>
                      </a:ext>
                    </a:extLst>
                  </a:tcPr>
                </a:tc>
              </a:tr>
              <a:tr h="494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93:1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3:1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3:1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3:13:3"/>
                      </a:ext>
                    </a:extLst>
                  </a:tcPr>
                </a:tc>
              </a:tr>
              <a:tr h="494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93:1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3:1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3:1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3:14:3"/>
                      </a:ext>
                    </a:extLst>
                  </a:tcPr>
                </a:tc>
              </a:tr>
              <a:tr h="494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93:1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3:1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3:1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3:15:3"/>
                      </a:ext>
                    </a:extLst>
                  </a:tcPr>
                </a:tc>
              </a:tr>
              <a:tr h="494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93:1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3:1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3:1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3:16:3"/>
                      </a:ext>
                    </a:extLst>
                  </a:tcPr>
                </a:tc>
              </a:tr>
              <a:tr h="49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93:1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3:1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3:1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3:17:3"/>
                      </a:ext>
                    </a:extLst>
                  </a:tcPr>
                </a:tc>
              </a:tr>
              <a:tr h="49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93:1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3:18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3:18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3:18:3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bb7a0e11e6_0_87"/>
          <p:cNvSpPr txBox="1"/>
          <p:nvPr/>
        </p:nvSpPr>
        <p:spPr>
          <a:xfrm>
            <a:off x="3771900" y="2425700"/>
            <a:ext cx="183897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33"/>
              <a:buFont typeface="Arial"/>
              <a:buNone/>
            </a:pPr>
            <a:r>
              <a:rPr b="1" i="0" lang="en-US" sz="4533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>팀원별 이탈률 (26년 4월 누적)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99" name="Google Shape;199;g3bb7a0e11e6_0_87"/>
          <p:cNvGraphicFramePr/>
          <p:nvPr/>
        </p:nvGraphicFramePr>
        <p:xfrm>
          <a:off x="3555200" y="37169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{C73B2DFF-F49C-45CD-A2D8-0BA848A6A658}</a:tableStyleId>
              </a:tblPr>
              <a:tblGrid>
                <a:gridCol w="1199875"/>
                <a:gridCol w="1199875"/>
                <a:gridCol w="1199875"/>
                <a:gridCol w="1199875"/>
                <a:gridCol w="1199875"/>
              </a:tblGrid>
              <a:tr h="832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순위</a:t>
                      </a:r>
                      <a:endParaRPr b="1" sz="20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99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사원</a:t>
                      </a:r>
                      <a:endParaRPr b="1" sz="20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99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기초PT</a:t>
                      </a:r>
                      <a:endParaRPr b="1" sz="20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99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이탈PT</a:t>
                      </a:r>
                      <a:endParaRPr b="1" sz="20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99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누적</a:t>
                      </a:r>
                      <a:endParaRPr b="1" sz="20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이탈률</a:t>
                      </a:r>
                      <a:endParaRPr b="1" sz="20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91425" marL="9142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199:0:4"/>
                      </a:ext>
                    </a:extLst>
                  </a:tcPr>
                </a:tc>
              </a:tr>
              <a:tr h="51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손민구</a:t>
                      </a:r>
                      <a:endParaRPr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1:4"/>
                      </a:ext>
                    </a:extLst>
                  </a:tcPr>
                </a:tc>
              </a:tr>
              <a:tr h="51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이훈창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107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1.90%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2:4"/>
                      </a:ext>
                    </a:extLst>
                  </a:tcPr>
                </a:tc>
              </a:tr>
              <a:tr h="51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이동현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0.0%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3:4"/>
                      </a:ext>
                    </a:extLst>
                  </a:tcPr>
                </a:tc>
              </a:tr>
              <a:tr h="51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이훈창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107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1.9%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4:4"/>
                      </a:ext>
                    </a:extLst>
                  </a:tcPr>
                </a:tc>
              </a:tr>
              <a:tr h="51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김승연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104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1.9%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5:4"/>
                      </a:ext>
                    </a:extLst>
                  </a:tcPr>
                </a:tc>
              </a:tr>
              <a:tr h="51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이슬비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6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2.2%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6:4"/>
                      </a:ext>
                    </a:extLst>
                  </a:tcPr>
                </a:tc>
              </a:tr>
              <a:tr h="51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서은수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111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7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3.6%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7:4"/>
                      </a:ext>
                    </a:extLst>
                  </a:tcPr>
                </a:tc>
              </a:tr>
              <a:tr h="51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허유나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8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106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8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8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3.8%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8:4"/>
                      </a:ext>
                    </a:extLst>
                  </a:tcPr>
                </a:tc>
              </a:tr>
              <a:tr h="51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김민철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9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93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9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9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4.2%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9:4"/>
                      </a:ext>
                    </a:extLst>
                  </a:tcPr>
                </a:tc>
              </a:tr>
              <a:tr h="51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1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정성욱B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1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89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1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1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4.7%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10:4"/>
                      </a:ext>
                    </a:extLst>
                  </a:tcPr>
                </a:tc>
              </a:tr>
              <a:tr h="51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1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조하영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1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111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1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1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5.4%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11:4"/>
                      </a:ext>
                    </a:extLst>
                  </a:tcPr>
                </a:tc>
              </a:tr>
              <a:tr h="51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1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정성윤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1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102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1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1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5.9%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12:4"/>
                      </a:ext>
                    </a:extLst>
                  </a:tcPr>
                </a:tc>
              </a:tr>
              <a:tr h="51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1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노승협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1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99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1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1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6.1%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13:4"/>
                      </a:ext>
                    </a:extLst>
                  </a:tcPr>
                </a:tc>
              </a:tr>
              <a:tr h="51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1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김예지B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1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121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1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1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6.5%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14:4"/>
                      </a:ext>
                    </a:extLst>
                  </a:tcPr>
                </a:tc>
              </a:tr>
              <a:tr h="51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1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김지영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1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91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1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1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6.5%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15:4"/>
                      </a:ext>
                    </a:extLst>
                  </a:tcPr>
                </a:tc>
              </a:tr>
              <a:tr h="51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1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최승원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1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119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1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16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6.7%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16:4"/>
                      </a:ext>
                    </a:extLst>
                  </a:tcPr>
                </a:tc>
              </a:tr>
              <a:tr h="51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1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이창세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1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116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1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17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7.0%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99:17:4"/>
                      </a:ext>
                    </a:extLst>
                  </a:tcPr>
                </a:tc>
              </a:tr>
            </a:tbl>
          </a:graphicData>
        </a:graphic>
      </p:graphicFrame>
      <p:graphicFrame>
        <p:nvGraphicFramePr>
          <p:cNvPr id="200" name="Google Shape;200;g3bb7a0e11e6_0_87"/>
          <p:cNvGraphicFramePr/>
          <p:nvPr/>
        </p:nvGraphicFramePr>
        <p:xfrm>
          <a:off x="9923038" y="37169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{C73B2DFF-F49C-45CD-A2D8-0BA848A6A658}</a:tableStyleId>
              </a:tblPr>
              <a:tblGrid>
                <a:gridCol w="1199875"/>
                <a:gridCol w="1199875"/>
                <a:gridCol w="1199875"/>
                <a:gridCol w="1199875"/>
                <a:gridCol w="1199875"/>
              </a:tblGrid>
              <a:tr h="832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순위</a:t>
                      </a:r>
                      <a:endParaRPr b="1" sz="20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200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사원</a:t>
                      </a:r>
                      <a:endParaRPr b="1" sz="20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200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기초PT</a:t>
                      </a:r>
                      <a:endParaRPr b="1" sz="20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200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이탈PT</a:t>
                      </a:r>
                      <a:endParaRPr b="1" sz="20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200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누적</a:t>
                      </a:r>
                      <a:endParaRPr b="1" sz="20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이탈률</a:t>
                      </a:r>
                      <a:endParaRPr b="1" sz="20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91425" marL="9142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200:0:4"/>
                      </a:ext>
                    </a:extLst>
                  </a:tcPr>
                </a:tc>
              </a:tr>
              <a:tr h="51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김윤지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111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7.2%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1:4"/>
                      </a:ext>
                    </a:extLst>
                  </a:tcPr>
                </a:tc>
              </a:tr>
              <a:tr h="51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김희철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104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7.4%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2:4"/>
                      </a:ext>
                    </a:extLst>
                  </a:tcPr>
                </a:tc>
              </a:tr>
              <a:tr h="51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이용호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107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7.5%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3:4"/>
                      </a:ext>
                    </a:extLst>
                  </a:tcPr>
                </a:tc>
              </a:tr>
              <a:tr h="51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강민정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7.9%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4:4"/>
                      </a:ext>
                    </a:extLst>
                  </a:tcPr>
                </a:tc>
              </a:tr>
              <a:tr h="51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손민정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96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8.2%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5:4"/>
                      </a:ext>
                    </a:extLst>
                  </a:tcPr>
                </a:tc>
              </a:tr>
              <a:tr h="51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김동혁B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95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6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8.4%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6:4"/>
                      </a:ext>
                    </a:extLst>
                  </a:tcPr>
                </a:tc>
              </a:tr>
              <a:tr h="51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이민용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91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7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8.8%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7:4"/>
                      </a:ext>
                    </a:extLst>
                  </a:tcPr>
                </a:tc>
              </a:tr>
              <a:tr h="51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유윤상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8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89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8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8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9.0%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8:4"/>
                      </a:ext>
                    </a:extLst>
                  </a:tcPr>
                </a:tc>
              </a:tr>
              <a:tr h="51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노경무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9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110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9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9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9.1%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9:4"/>
                      </a:ext>
                    </a:extLst>
                  </a:tcPr>
                </a:tc>
              </a:tr>
              <a:tr h="51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1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정희승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1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110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1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1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9.1%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10:4"/>
                      </a:ext>
                    </a:extLst>
                  </a:tcPr>
                </a:tc>
              </a:tr>
              <a:tr h="51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1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윤재오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1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111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1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1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9.2%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11:4"/>
                      </a:ext>
                    </a:extLst>
                  </a:tcPr>
                </a:tc>
              </a:tr>
              <a:tr h="51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1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김유정B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1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106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1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1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9.4%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12:4"/>
                      </a:ext>
                    </a:extLst>
                  </a:tcPr>
                </a:tc>
              </a:tr>
              <a:tr h="51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1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이준용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1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158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1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1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9.5%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13:4"/>
                      </a:ext>
                    </a:extLst>
                  </a:tcPr>
                </a:tc>
              </a:tr>
              <a:tr h="51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1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김상록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1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120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1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1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10.0%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14:4"/>
                      </a:ext>
                    </a:extLst>
                  </a:tcPr>
                </a:tc>
              </a:tr>
              <a:tr h="51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1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김지혜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1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108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1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1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11.0%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15:4"/>
                      </a:ext>
                    </a:extLst>
                  </a:tcPr>
                </a:tc>
              </a:tr>
              <a:tr h="51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1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김주은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1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107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1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16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11.4%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16:4"/>
                      </a:ext>
                    </a:extLst>
                  </a:tcPr>
                </a:tc>
              </a:tr>
              <a:tr h="51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1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김경수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1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114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1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17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12.2%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0:17:4"/>
                      </a:ext>
                    </a:extLst>
                  </a:tcPr>
                </a:tc>
              </a:tr>
            </a:tbl>
          </a:graphicData>
        </a:graphic>
      </p:graphicFrame>
      <p:graphicFrame>
        <p:nvGraphicFramePr>
          <p:cNvPr id="201" name="Google Shape;201;g3bb7a0e11e6_0_87"/>
          <p:cNvGraphicFramePr/>
          <p:nvPr/>
        </p:nvGraphicFramePr>
        <p:xfrm>
          <a:off x="16378913" y="37169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{C73B2DFF-F49C-45CD-A2D8-0BA848A6A658}</a:tableStyleId>
              </a:tblPr>
              <a:tblGrid>
                <a:gridCol w="1199875"/>
                <a:gridCol w="1199875"/>
                <a:gridCol w="1199875"/>
                <a:gridCol w="1199875"/>
                <a:gridCol w="1199875"/>
              </a:tblGrid>
              <a:tr h="832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순위</a:t>
                      </a:r>
                      <a:endParaRPr b="1" sz="20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201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사원</a:t>
                      </a:r>
                      <a:endParaRPr b="1" sz="20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201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기초PT</a:t>
                      </a:r>
                      <a:endParaRPr b="1" sz="20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201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이탈PT</a:t>
                      </a:r>
                      <a:endParaRPr b="1" sz="20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201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누적</a:t>
                      </a:r>
                      <a:endParaRPr b="1" sz="20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이탈률</a:t>
                      </a:r>
                      <a:endParaRPr b="1" sz="20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91425" marL="9142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BCDA"/>
                    </a:solidFill>
                    <a:extLst>
                      <a:ext uri="http://customooxmlschemas.google.com/">
                        <go:slidesCustomData xmlns:go="http://customooxmlschemas.google.com/" cellId="201:0:4"/>
                      </a:ext>
                    </a:extLst>
                  </a:tcPr>
                </a:tc>
              </a:tr>
              <a:tr h="51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정소영A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13.3%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1:4"/>
                      </a:ext>
                    </a:extLst>
                  </a:tcPr>
                </a:tc>
              </a:tr>
              <a:tr h="51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36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정태연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73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13.7%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2:4"/>
                      </a:ext>
                    </a:extLst>
                  </a:tcPr>
                </a:tc>
              </a:tr>
              <a:tr h="51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37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위민수</a:t>
                      </a:r>
                      <a:endParaRPr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110</a:t>
                      </a:r>
                      <a:endParaRPr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14.6%</a:t>
                      </a:r>
                      <a:endParaRPr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3:4"/>
                      </a:ext>
                    </a:extLst>
                  </a:tcPr>
                </a:tc>
              </a:tr>
              <a:tr h="51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38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한유빈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108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18.3%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4:4"/>
                      </a:ext>
                    </a:extLst>
                  </a:tcPr>
                </a:tc>
              </a:tr>
              <a:tr h="51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39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김선만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151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19.7%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5:4"/>
                      </a:ext>
                    </a:extLst>
                  </a:tcPr>
                </a:tc>
              </a:tr>
              <a:tr h="51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손성재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160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6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22.2%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6:4"/>
                      </a:ext>
                    </a:extLst>
                  </a:tcPr>
                </a:tc>
              </a:tr>
              <a:tr h="51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41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권도연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89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7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22.5%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7:4"/>
                      </a:ext>
                    </a:extLst>
                  </a:tcPr>
                </a:tc>
              </a:tr>
              <a:tr h="51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42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이정훈B</a:t>
                      </a:r>
                      <a:endParaRPr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8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65</a:t>
                      </a:r>
                      <a:endParaRPr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8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8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27.0%</a:t>
                      </a:r>
                      <a:endParaRPr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8:4"/>
                      </a:ext>
                    </a:extLst>
                  </a:tcPr>
                </a:tc>
              </a:tr>
              <a:tr h="514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43</a:t>
                      </a:r>
                      <a:endParaRPr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박수민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9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112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9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9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27.4%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9:4"/>
                      </a:ext>
                    </a:extLst>
                  </a:tcPr>
                </a:tc>
              </a:tr>
              <a:tr h="51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44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1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진성운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1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1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1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28.3%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10:4"/>
                      </a:ext>
                    </a:extLst>
                  </a:tcPr>
                </a:tc>
              </a:tr>
              <a:tr h="51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비고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1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1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1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1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11:4"/>
                      </a:ext>
                    </a:extLst>
                  </a:tcPr>
                </a:tc>
              </a:tr>
              <a:tr h="51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비고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1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1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1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1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118850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12:4"/>
                      </a:ext>
                    </a:extLst>
                  </a:tcPr>
                </a:tc>
              </a:tr>
              <a:tr h="51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비고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1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1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1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1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13:4"/>
                      </a:ext>
                    </a:extLst>
                  </a:tcPr>
                </a:tc>
              </a:tr>
              <a:tr h="51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비고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1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1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1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1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14:4"/>
                      </a:ext>
                    </a:extLst>
                  </a:tcPr>
                </a:tc>
              </a:tr>
              <a:tr h="51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비고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1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1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1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1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15:4"/>
                      </a:ext>
                    </a:extLst>
                  </a:tcPr>
                </a:tc>
              </a:tr>
              <a:tr h="51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비고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1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1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1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16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16:4"/>
                      </a:ext>
                    </a:extLst>
                  </a:tcPr>
                </a:tc>
              </a:tr>
              <a:tr h="51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비고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1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1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1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17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01:17:4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